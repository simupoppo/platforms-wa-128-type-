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Lst>
  <p:sldSz cx="12192000" cy="486013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427" y="-958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914400" y="7953968"/>
            <a:ext cx="10363200" cy="16920457"/>
          </a:xfrm>
        </p:spPr>
        <p:txBody>
          <a:bodyPr anchor="b"/>
          <a:lstStyle>
            <a:lvl1pPr algn="ctr">
              <a:defRPr sz="8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25526943"/>
            <a:ext cx="9144000" cy="1173406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CCFBDB23-12DB-4B80-A4C7-1DFE9ED29377}" type="datetimeFigureOut">
              <a:rPr kumimoji="1" lang="ja-JP" altLang="en-US" smtClean="0"/>
              <a:t>2022/12/15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4E0957C-C7FF-4546-B302-2AF4F55F2E5E}" type="slidenum">
              <a:rPr kumimoji="1" lang="ja-JP" altLang="en-US" smtClean="0"/>
              <a:t>‹#›</a:t>
            </a:fld>
            <a:endParaRPr kumimoji="1" lang="ja-JP" altLang="en-US"/>
          </a:p>
        </p:txBody>
      </p:sp>
    </p:spTree>
    <p:extLst>
      <p:ext uri="{BB962C8B-B14F-4D97-AF65-F5344CB8AC3E}">
        <p14:creationId xmlns:p14="http://schemas.microsoft.com/office/powerpoint/2010/main" val="1758476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CFBDB23-12DB-4B80-A4C7-1DFE9ED29377}" type="datetimeFigureOut">
              <a:rPr kumimoji="1" lang="ja-JP" altLang="en-US" smtClean="0"/>
              <a:t>2022/12/15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4E0957C-C7FF-4546-B302-2AF4F55F2E5E}" type="slidenum">
              <a:rPr kumimoji="1" lang="ja-JP" altLang="en-US" smtClean="0"/>
              <a:t>‹#›</a:t>
            </a:fld>
            <a:endParaRPr kumimoji="1" lang="ja-JP" altLang="en-US"/>
          </a:p>
        </p:txBody>
      </p:sp>
    </p:spTree>
    <p:extLst>
      <p:ext uri="{BB962C8B-B14F-4D97-AF65-F5344CB8AC3E}">
        <p14:creationId xmlns:p14="http://schemas.microsoft.com/office/powerpoint/2010/main" val="942759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1" y="12116591"/>
            <a:ext cx="10515600" cy="20216793"/>
          </a:xfrm>
        </p:spPr>
        <p:txBody>
          <a:bodyPr anchor="b"/>
          <a:lstStyle>
            <a:lvl1pPr>
              <a:defRPr sz="8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1" y="32524643"/>
            <a:ext cx="10515600" cy="10631534"/>
          </a:xfrm>
        </p:spPr>
        <p:txBody>
          <a:bodyPr/>
          <a:lstStyle>
            <a:lvl1pPr marL="0" indent="0">
              <a:buNone/>
              <a:defRPr sz="320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CFBDB23-12DB-4B80-A4C7-1DFE9ED29377}" type="datetimeFigureOut">
              <a:rPr kumimoji="1" lang="ja-JP" altLang="en-US" smtClean="0"/>
              <a:t>2022/12/15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4E0957C-C7FF-4546-B302-2AF4F55F2E5E}" type="slidenum">
              <a:rPr kumimoji="1" lang="ja-JP" altLang="en-US" smtClean="0"/>
              <a:t>‹#›</a:t>
            </a:fld>
            <a:endParaRPr kumimoji="1" lang="ja-JP" altLang="en-US"/>
          </a:p>
        </p:txBody>
      </p:sp>
    </p:spTree>
    <p:extLst>
      <p:ext uri="{BB962C8B-B14F-4D97-AF65-F5344CB8AC3E}">
        <p14:creationId xmlns:p14="http://schemas.microsoft.com/office/powerpoint/2010/main" val="3737205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2937849"/>
            <a:ext cx="5181600" cy="3083708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2937849"/>
            <a:ext cx="5181600" cy="3083708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CCFBDB23-12DB-4B80-A4C7-1DFE9ED29377}" type="datetimeFigureOut">
              <a:rPr kumimoji="1" lang="ja-JP" altLang="en-US" smtClean="0"/>
              <a:t>2022/12/15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4E0957C-C7FF-4546-B302-2AF4F55F2E5E}" type="slidenum">
              <a:rPr kumimoji="1" lang="ja-JP" altLang="en-US" smtClean="0"/>
              <a:t>‹#›</a:t>
            </a:fld>
            <a:endParaRPr kumimoji="1" lang="ja-JP" altLang="en-US"/>
          </a:p>
        </p:txBody>
      </p:sp>
    </p:spTree>
    <p:extLst>
      <p:ext uri="{BB962C8B-B14F-4D97-AF65-F5344CB8AC3E}">
        <p14:creationId xmlns:p14="http://schemas.microsoft.com/office/powerpoint/2010/main" val="3578271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2587581"/>
            <a:ext cx="10515600" cy="939400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9" y="11914076"/>
            <a:ext cx="5157787" cy="5838904"/>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ja-JP" altLang="en-US"/>
              <a:t>マスター テキストの書式設定</a:t>
            </a:r>
          </a:p>
        </p:txBody>
      </p:sp>
      <p:sp>
        <p:nvSpPr>
          <p:cNvPr id="4" name="Content Placeholder 3"/>
          <p:cNvSpPr>
            <a:spLocks noGrp="1"/>
          </p:cNvSpPr>
          <p:nvPr>
            <p:ph sz="half" idx="2"/>
          </p:nvPr>
        </p:nvSpPr>
        <p:spPr>
          <a:xfrm>
            <a:off x="839789" y="17752980"/>
            <a:ext cx="5157787" cy="26111959"/>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1" y="11914076"/>
            <a:ext cx="5183188" cy="5838904"/>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ja-JP" altLang="en-US"/>
              <a:t>マスター テキストの書式設定</a:t>
            </a:r>
          </a:p>
        </p:txBody>
      </p:sp>
      <p:sp>
        <p:nvSpPr>
          <p:cNvPr id="6" name="Content Placeholder 5"/>
          <p:cNvSpPr>
            <a:spLocks noGrp="1"/>
          </p:cNvSpPr>
          <p:nvPr>
            <p:ph sz="quarter" idx="4"/>
          </p:nvPr>
        </p:nvSpPr>
        <p:spPr>
          <a:xfrm>
            <a:off x="6172201" y="17752980"/>
            <a:ext cx="5183188" cy="26111959"/>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CCFBDB23-12DB-4B80-A4C7-1DFE9ED29377}" type="datetimeFigureOut">
              <a:rPr kumimoji="1" lang="ja-JP" altLang="en-US" smtClean="0"/>
              <a:t>2022/12/15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C4E0957C-C7FF-4546-B302-2AF4F55F2E5E}" type="slidenum">
              <a:rPr kumimoji="1" lang="ja-JP" altLang="en-US" smtClean="0"/>
              <a:t>‹#›</a:t>
            </a:fld>
            <a:endParaRPr kumimoji="1" lang="ja-JP" altLang="en-US"/>
          </a:p>
        </p:txBody>
      </p:sp>
    </p:spTree>
    <p:extLst>
      <p:ext uri="{BB962C8B-B14F-4D97-AF65-F5344CB8AC3E}">
        <p14:creationId xmlns:p14="http://schemas.microsoft.com/office/powerpoint/2010/main" val="1296004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CCFBDB23-12DB-4B80-A4C7-1DFE9ED29377}" type="datetimeFigureOut">
              <a:rPr kumimoji="1" lang="ja-JP" altLang="en-US" smtClean="0"/>
              <a:t>2022/12/15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C4E0957C-C7FF-4546-B302-2AF4F55F2E5E}" type="slidenum">
              <a:rPr kumimoji="1" lang="ja-JP" altLang="en-US" smtClean="0"/>
              <a:t>‹#›</a:t>
            </a:fld>
            <a:endParaRPr kumimoji="1" lang="ja-JP" altLang="en-US"/>
          </a:p>
        </p:txBody>
      </p:sp>
    </p:spTree>
    <p:extLst>
      <p:ext uri="{BB962C8B-B14F-4D97-AF65-F5344CB8AC3E}">
        <p14:creationId xmlns:p14="http://schemas.microsoft.com/office/powerpoint/2010/main" val="4023967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FBDB23-12DB-4B80-A4C7-1DFE9ED29377}" type="datetimeFigureOut">
              <a:rPr kumimoji="1" lang="ja-JP" altLang="en-US" smtClean="0"/>
              <a:t>2022/12/15</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C4E0957C-C7FF-4546-B302-2AF4F55F2E5E}" type="slidenum">
              <a:rPr kumimoji="1" lang="ja-JP" altLang="en-US" smtClean="0"/>
              <a:t>‹#›</a:t>
            </a:fld>
            <a:endParaRPr kumimoji="1" lang="ja-JP" altLang="en-US"/>
          </a:p>
        </p:txBody>
      </p:sp>
    </p:spTree>
    <p:extLst>
      <p:ext uri="{BB962C8B-B14F-4D97-AF65-F5344CB8AC3E}">
        <p14:creationId xmlns:p14="http://schemas.microsoft.com/office/powerpoint/2010/main" val="1496006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3240088"/>
            <a:ext cx="3932237" cy="11340306"/>
          </a:xfrm>
        </p:spPr>
        <p:txBody>
          <a:bodyPr anchor="b"/>
          <a:lstStyle>
            <a:lvl1pPr>
              <a:defRPr sz="4267"/>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6997700"/>
            <a:ext cx="6172200" cy="3453843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14580394"/>
            <a:ext cx="3932237" cy="27011983"/>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CFBDB23-12DB-4B80-A4C7-1DFE9ED29377}" type="datetimeFigureOut">
              <a:rPr kumimoji="1" lang="ja-JP" altLang="en-US" smtClean="0"/>
              <a:t>2022/12/15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4E0957C-C7FF-4546-B302-2AF4F55F2E5E}" type="slidenum">
              <a:rPr kumimoji="1" lang="ja-JP" altLang="en-US" smtClean="0"/>
              <a:t>‹#›</a:t>
            </a:fld>
            <a:endParaRPr kumimoji="1" lang="ja-JP" altLang="en-US"/>
          </a:p>
        </p:txBody>
      </p:sp>
    </p:spTree>
    <p:extLst>
      <p:ext uri="{BB962C8B-B14F-4D97-AF65-F5344CB8AC3E}">
        <p14:creationId xmlns:p14="http://schemas.microsoft.com/office/powerpoint/2010/main" val="4037832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3240088"/>
            <a:ext cx="3932237" cy="11340306"/>
          </a:xfrm>
        </p:spPr>
        <p:txBody>
          <a:bodyPr anchor="b"/>
          <a:lstStyle>
            <a:lvl1pPr>
              <a:defRPr sz="4267"/>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6997700"/>
            <a:ext cx="6172200" cy="34538433"/>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14580394"/>
            <a:ext cx="3932237" cy="27011983"/>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CFBDB23-12DB-4B80-A4C7-1DFE9ED29377}" type="datetimeFigureOut">
              <a:rPr kumimoji="1" lang="ja-JP" altLang="en-US" smtClean="0"/>
              <a:t>2022/12/15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4E0957C-C7FF-4546-B302-2AF4F55F2E5E}" type="slidenum">
              <a:rPr kumimoji="1" lang="ja-JP" altLang="en-US" smtClean="0"/>
              <a:t>‹#›</a:t>
            </a:fld>
            <a:endParaRPr kumimoji="1" lang="ja-JP" altLang="en-US"/>
          </a:p>
        </p:txBody>
      </p:sp>
    </p:spTree>
    <p:extLst>
      <p:ext uri="{BB962C8B-B14F-4D97-AF65-F5344CB8AC3E}">
        <p14:creationId xmlns:p14="http://schemas.microsoft.com/office/powerpoint/2010/main" val="2982224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CFBDB23-12DB-4B80-A4C7-1DFE9ED29377}" type="datetimeFigureOut">
              <a:rPr kumimoji="1" lang="ja-JP" altLang="en-US" smtClean="0"/>
              <a:t>2022/12/15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4E0957C-C7FF-4546-B302-2AF4F55F2E5E}" type="slidenum">
              <a:rPr kumimoji="1" lang="ja-JP" altLang="en-US" smtClean="0"/>
              <a:t>‹#›</a:t>
            </a:fld>
            <a:endParaRPr kumimoji="1" lang="ja-JP" altLang="en-US"/>
          </a:p>
        </p:txBody>
      </p:sp>
    </p:spTree>
    <p:extLst>
      <p:ext uri="{BB962C8B-B14F-4D97-AF65-F5344CB8AC3E}">
        <p14:creationId xmlns:p14="http://schemas.microsoft.com/office/powerpoint/2010/main" val="3418327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2587570"/>
            <a:ext cx="2628900" cy="41187366"/>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1" y="2587570"/>
            <a:ext cx="7734300" cy="41187366"/>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CFBDB23-12DB-4B80-A4C7-1DFE9ED29377}" type="datetimeFigureOut">
              <a:rPr kumimoji="1" lang="ja-JP" altLang="en-US" smtClean="0"/>
              <a:t>2022/12/15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4E0957C-C7FF-4546-B302-2AF4F55F2E5E}" type="slidenum">
              <a:rPr kumimoji="1" lang="ja-JP" altLang="en-US" smtClean="0"/>
              <a:t>‹#›</a:t>
            </a:fld>
            <a:endParaRPr kumimoji="1" lang="ja-JP" altLang="en-US"/>
          </a:p>
        </p:txBody>
      </p:sp>
    </p:spTree>
    <p:extLst>
      <p:ext uri="{BB962C8B-B14F-4D97-AF65-F5344CB8AC3E}">
        <p14:creationId xmlns:p14="http://schemas.microsoft.com/office/powerpoint/2010/main" val="690217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587581"/>
            <a:ext cx="10515600" cy="9394007"/>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2937849"/>
            <a:ext cx="10515600" cy="3083708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45046228"/>
            <a:ext cx="2743200" cy="2587570"/>
          </a:xfrm>
          <a:prstGeom prst="rect">
            <a:avLst/>
          </a:prstGeom>
        </p:spPr>
        <p:txBody>
          <a:bodyPr vert="horz" lIns="91440" tIns="45720" rIns="91440" bIns="45720" rtlCol="0" anchor="ctr"/>
          <a:lstStyle>
            <a:lvl1pPr algn="l">
              <a:defRPr sz="1600">
                <a:solidFill>
                  <a:schemeClr val="tx1">
                    <a:tint val="75000"/>
                  </a:schemeClr>
                </a:solidFill>
              </a:defRPr>
            </a:lvl1pPr>
          </a:lstStyle>
          <a:p>
            <a:fld id="{CCFBDB23-12DB-4B80-A4C7-1DFE9ED29377}" type="datetimeFigureOut">
              <a:rPr kumimoji="1" lang="ja-JP" altLang="en-US" smtClean="0"/>
              <a:t>2022/12/15</a:t>
            </a:fld>
            <a:endParaRPr kumimoji="1" lang="ja-JP" altLang="en-US"/>
          </a:p>
        </p:txBody>
      </p:sp>
      <p:sp>
        <p:nvSpPr>
          <p:cNvPr id="5" name="Footer Placeholder 4"/>
          <p:cNvSpPr>
            <a:spLocks noGrp="1"/>
          </p:cNvSpPr>
          <p:nvPr>
            <p:ph type="ftr" sz="quarter" idx="3"/>
          </p:nvPr>
        </p:nvSpPr>
        <p:spPr>
          <a:xfrm>
            <a:off x="4038600" y="45046228"/>
            <a:ext cx="4114800" cy="2587570"/>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45046228"/>
            <a:ext cx="2743200" cy="2587570"/>
          </a:xfrm>
          <a:prstGeom prst="rect">
            <a:avLst/>
          </a:prstGeom>
        </p:spPr>
        <p:txBody>
          <a:bodyPr vert="horz" lIns="91440" tIns="45720" rIns="91440" bIns="45720" rtlCol="0" anchor="ctr"/>
          <a:lstStyle>
            <a:lvl1pPr algn="r">
              <a:defRPr sz="1600">
                <a:solidFill>
                  <a:schemeClr val="tx1">
                    <a:tint val="75000"/>
                  </a:schemeClr>
                </a:solidFill>
              </a:defRPr>
            </a:lvl1pPr>
          </a:lstStyle>
          <a:p>
            <a:fld id="{C4E0957C-C7FF-4546-B302-2AF4F55F2E5E}" type="slidenum">
              <a:rPr kumimoji="1" lang="ja-JP" altLang="en-US" smtClean="0"/>
              <a:t>‹#›</a:t>
            </a:fld>
            <a:endParaRPr kumimoji="1" lang="ja-JP" altLang="en-US"/>
          </a:p>
        </p:txBody>
      </p:sp>
    </p:spTree>
    <p:extLst>
      <p:ext uri="{BB962C8B-B14F-4D97-AF65-F5344CB8AC3E}">
        <p14:creationId xmlns:p14="http://schemas.microsoft.com/office/powerpoint/2010/main" val="884904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219170" rtl="0" eaLnBrk="1" latinLnBrk="0" hangingPunct="1">
        <a:lnSpc>
          <a:spcPct val="90000"/>
        </a:lnSpc>
        <a:spcBef>
          <a:spcPct val="0"/>
        </a:spcBef>
        <a:buNone/>
        <a:defRPr kumimoji="1"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kumimoji="1"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kumimoji="1"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kumimoji="1"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kumimoji="1"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kumimoji="1"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kumimoji="1"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kumimoji="1"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kumimoji="1"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kumimoji="1" sz="2400" kern="1200">
          <a:solidFill>
            <a:schemeClr val="tx1"/>
          </a:solidFill>
          <a:latin typeface="+mn-lt"/>
          <a:ea typeface="+mn-ea"/>
          <a:cs typeface="+mn-cs"/>
        </a:defRPr>
      </a:lvl9pPr>
    </p:bodyStyle>
    <p:otherStyle>
      <a:defPPr>
        <a:defRPr lang="en-US"/>
      </a:defPPr>
      <a:lvl1pPr marL="0" algn="l" defTabSz="1219170" rtl="0" eaLnBrk="1" latinLnBrk="0" hangingPunct="1">
        <a:defRPr kumimoji="1" sz="2400" kern="1200">
          <a:solidFill>
            <a:schemeClr val="tx1"/>
          </a:solidFill>
          <a:latin typeface="+mn-lt"/>
          <a:ea typeface="+mn-ea"/>
          <a:cs typeface="+mn-cs"/>
        </a:defRPr>
      </a:lvl1pPr>
      <a:lvl2pPr marL="609585" algn="l" defTabSz="1219170" rtl="0" eaLnBrk="1" latinLnBrk="0" hangingPunct="1">
        <a:defRPr kumimoji="1" sz="2400" kern="1200">
          <a:solidFill>
            <a:schemeClr val="tx1"/>
          </a:solidFill>
          <a:latin typeface="+mn-lt"/>
          <a:ea typeface="+mn-ea"/>
          <a:cs typeface="+mn-cs"/>
        </a:defRPr>
      </a:lvl2pPr>
      <a:lvl3pPr marL="1219170" algn="l" defTabSz="1219170" rtl="0" eaLnBrk="1" latinLnBrk="0" hangingPunct="1">
        <a:defRPr kumimoji="1" sz="2400" kern="1200">
          <a:solidFill>
            <a:schemeClr val="tx1"/>
          </a:solidFill>
          <a:latin typeface="+mn-lt"/>
          <a:ea typeface="+mn-ea"/>
          <a:cs typeface="+mn-cs"/>
        </a:defRPr>
      </a:lvl3pPr>
      <a:lvl4pPr marL="1828754" algn="l" defTabSz="1219170" rtl="0" eaLnBrk="1" latinLnBrk="0" hangingPunct="1">
        <a:defRPr kumimoji="1" sz="2400" kern="1200">
          <a:solidFill>
            <a:schemeClr val="tx1"/>
          </a:solidFill>
          <a:latin typeface="+mn-lt"/>
          <a:ea typeface="+mn-ea"/>
          <a:cs typeface="+mn-cs"/>
        </a:defRPr>
      </a:lvl4pPr>
      <a:lvl5pPr marL="2438339" algn="l" defTabSz="1219170" rtl="0" eaLnBrk="1" latinLnBrk="0" hangingPunct="1">
        <a:defRPr kumimoji="1" sz="2400" kern="1200">
          <a:solidFill>
            <a:schemeClr val="tx1"/>
          </a:solidFill>
          <a:latin typeface="+mn-lt"/>
          <a:ea typeface="+mn-ea"/>
          <a:cs typeface="+mn-cs"/>
        </a:defRPr>
      </a:lvl5pPr>
      <a:lvl6pPr marL="3047924" algn="l" defTabSz="1219170" rtl="0" eaLnBrk="1" latinLnBrk="0" hangingPunct="1">
        <a:defRPr kumimoji="1" sz="2400" kern="1200">
          <a:solidFill>
            <a:schemeClr val="tx1"/>
          </a:solidFill>
          <a:latin typeface="+mn-lt"/>
          <a:ea typeface="+mn-ea"/>
          <a:cs typeface="+mn-cs"/>
        </a:defRPr>
      </a:lvl6pPr>
      <a:lvl7pPr marL="3657509" algn="l" defTabSz="1219170" rtl="0" eaLnBrk="1" latinLnBrk="0" hangingPunct="1">
        <a:defRPr kumimoji="1" sz="2400" kern="1200">
          <a:solidFill>
            <a:schemeClr val="tx1"/>
          </a:solidFill>
          <a:latin typeface="+mn-lt"/>
          <a:ea typeface="+mn-ea"/>
          <a:cs typeface="+mn-cs"/>
        </a:defRPr>
      </a:lvl7pPr>
      <a:lvl8pPr marL="4267093" algn="l" defTabSz="1219170" rtl="0" eaLnBrk="1" latinLnBrk="0" hangingPunct="1">
        <a:defRPr kumimoji="1" sz="2400" kern="1200">
          <a:solidFill>
            <a:schemeClr val="tx1"/>
          </a:solidFill>
          <a:latin typeface="+mn-lt"/>
          <a:ea typeface="+mn-ea"/>
          <a:cs typeface="+mn-cs"/>
        </a:defRPr>
      </a:lvl8pPr>
      <a:lvl9pPr marL="4876678" algn="l" defTabSz="1219170" rtl="0" eaLnBrk="1" latinLnBrk="0" hangingPunct="1">
        <a:defRPr kumimoji="1"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2C5FA49-7AF5-DC15-554C-FF0CB9941320}"/>
              </a:ext>
            </a:extLst>
          </p:cNvPr>
          <p:cNvSpPr txBox="1"/>
          <p:nvPr/>
        </p:nvSpPr>
        <p:spPr>
          <a:xfrm>
            <a:off x="1754298" y="227588"/>
            <a:ext cx="8683403" cy="646331"/>
          </a:xfrm>
          <a:prstGeom prst="rect">
            <a:avLst/>
          </a:prstGeom>
          <a:noFill/>
        </p:spPr>
        <p:txBody>
          <a:bodyPr wrap="none" rtlCol="0">
            <a:spAutoFit/>
          </a:bodyPr>
          <a:lstStyle/>
          <a:p>
            <a:pPr algn="ctr"/>
            <a:r>
              <a:rPr kumimoji="1" lang="en-US" altLang="ja-JP" sz="3600" dirty="0" err="1"/>
              <a:t>wa</a:t>
            </a:r>
            <a:r>
              <a:rPr kumimoji="1" lang="ja-JP" altLang="en-US" sz="3600" dirty="0"/>
              <a:t>式ホーム架線化拡張セット つかいかた</a:t>
            </a:r>
          </a:p>
        </p:txBody>
      </p:sp>
      <p:sp>
        <p:nvSpPr>
          <p:cNvPr id="5" name="テキスト ボックス 4">
            <a:extLst>
              <a:ext uri="{FF2B5EF4-FFF2-40B4-BE49-F238E27FC236}">
                <a16:creationId xmlns:a16="http://schemas.microsoft.com/office/drawing/2014/main" id="{893E7236-BB71-A161-F63D-66BFD4EA0D87}"/>
              </a:ext>
            </a:extLst>
          </p:cNvPr>
          <p:cNvSpPr txBox="1"/>
          <p:nvPr/>
        </p:nvSpPr>
        <p:spPr>
          <a:xfrm>
            <a:off x="1800931" y="873920"/>
            <a:ext cx="8542820" cy="4616648"/>
          </a:xfrm>
          <a:prstGeom prst="rect">
            <a:avLst/>
          </a:prstGeom>
          <a:noFill/>
        </p:spPr>
        <p:txBody>
          <a:bodyPr wrap="square" rtlCol="0">
            <a:spAutoFit/>
          </a:bodyPr>
          <a:lstStyle/>
          <a:p>
            <a:r>
              <a:rPr kumimoji="1" lang="ja-JP" altLang="en-US" sz="2400" dirty="0"/>
              <a:t>内容</a:t>
            </a:r>
            <a:endParaRPr kumimoji="1" lang="en-US" altLang="ja-JP" sz="2400" dirty="0"/>
          </a:p>
          <a:p>
            <a:r>
              <a:rPr kumimoji="1" lang="ja-JP" altLang="en-US" dirty="0"/>
              <a:t>・架線属性屋根なしホーム</a:t>
            </a:r>
            <a:endParaRPr kumimoji="1" lang="en-US" altLang="ja-JP" dirty="0"/>
          </a:p>
          <a:p>
            <a:r>
              <a:rPr kumimoji="1" lang="ja-JP" altLang="en-US" dirty="0"/>
              <a:t>・架線属性屋根なし黄線なしホーム</a:t>
            </a:r>
            <a:endParaRPr kumimoji="1" lang="en-US" altLang="ja-JP" dirty="0"/>
          </a:p>
          <a:p>
            <a:r>
              <a:rPr kumimoji="1" lang="ja-JP" altLang="en-US" dirty="0"/>
              <a:t>・架線属性屋根付きホーム１</a:t>
            </a:r>
            <a:endParaRPr kumimoji="1" lang="en-US" altLang="ja-JP" dirty="0"/>
          </a:p>
          <a:p>
            <a:r>
              <a:rPr kumimoji="1" lang="ja-JP" altLang="en-US" dirty="0"/>
              <a:t>　（手前</a:t>
            </a:r>
            <a:r>
              <a:rPr kumimoji="1" lang="en-US" altLang="ja-JP" dirty="0"/>
              <a:t>/</a:t>
            </a:r>
            <a:r>
              <a:rPr kumimoji="1" lang="ja-JP" altLang="en-US" dirty="0"/>
              <a:t>奥）</a:t>
            </a:r>
            <a:r>
              <a:rPr kumimoji="1" lang="en-US" altLang="ja-JP" dirty="0"/>
              <a:t>×</a:t>
            </a:r>
            <a:r>
              <a:rPr kumimoji="1" lang="ja-JP" altLang="en-US" dirty="0"/>
              <a:t>（壁なし</a:t>
            </a:r>
            <a:r>
              <a:rPr kumimoji="1" lang="en-US" altLang="ja-JP" dirty="0"/>
              <a:t>/</a:t>
            </a:r>
            <a:r>
              <a:rPr kumimoji="1" lang="ja-JP" altLang="en-US" dirty="0"/>
              <a:t>壁面有）</a:t>
            </a:r>
            <a:r>
              <a:rPr kumimoji="1" lang="en-US" altLang="ja-JP" dirty="0"/>
              <a:t>×</a:t>
            </a:r>
            <a:r>
              <a:rPr kumimoji="1" lang="ja-JP" altLang="en-US" dirty="0"/>
              <a:t>（架線なし</a:t>
            </a:r>
            <a:r>
              <a:rPr kumimoji="1" lang="en-US" altLang="ja-JP" dirty="0"/>
              <a:t>/</a:t>
            </a:r>
            <a:r>
              <a:rPr kumimoji="1" lang="ja-JP" altLang="en-US" dirty="0"/>
              <a:t>架線あり）</a:t>
            </a:r>
            <a:endParaRPr kumimoji="1" lang="en-US" altLang="ja-JP" dirty="0"/>
          </a:p>
          <a:p>
            <a:r>
              <a:rPr kumimoji="1" lang="ja-JP" altLang="en-US" dirty="0"/>
              <a:t>　　</a:t>
            </a:r>
            <a:r>
              <a:rPr kumimoji="1" lang="en-US" altLang="ja-JP" b="1" dirty="0"/>
              <a:t>=</a:t>
            </a:r>
            <a:r>
              <a:rPr kumimoji="1" lang="ja-JP" altLang="en-US" b="1" dirty="0"/>
              <a:t>計</a:t>
            </a:r>
            <a:r>
              <a:rPr kumimoji="1" lang="en-US" altLang="ja-JP" b="1" dirty="0"/>
              <a:t>24</a:t>
            </a:r>
            <a:r>
              <a:rPr kumimoji="1" lang="ja-JP" altLang="en-US" b="1" dirty="0"/>
              <a:t>パターン</a:t>
            </a:r>
            <a:endParaRPr kumimoji="1" lang="en-US" altLang="ja-JP" b="1" dirty="0"/>
          </a:p>
          <a:p>
            <a:endParaRPr kumimoji="1" lang="en-US" altLang="ja-JP" dirty="0"/>
          </a:p>
          <a:p>
            <a:r>
              <a:rPr kumimoji="1" lang="ja-JP" altLang="en-US" dirty="0"/>
              <a:t>・信号属性屋根なしホーム</a:t>
            </a:r>
            <a:endParaRPr kumimoji="1" lang="en-US" altLang="ja-JP" dirty="0"/>
          </a:p>
          <a:p>
            <a:r>
              <a:rPr kumimoji="1" lang="ja-JP" altLang="en-US" dirty="0"/>
              <a:t>・信号属性屋根なし黄線なしホーム</a:t>
            </a:r>
            <a:endParaRPr kumimoji="1" lang="en-US" altLang="ja-JP" dirty="0"/>
          </a:p>
          <a:p>
            <a:r>
              <a:rPr kumimoji="1" lang="ja-JP" altLang="en-US" dirty="0"/>
              <a:t>　（壁なし</a:t>
            </a:r>
            <a:r>
              <a:rPr kumimoji="1" lang="en-US" altLang="ja-JP" dirty="0"/>
              <a:t>/</a:t>
            </a:r>
            <a:r>
              <a:rPr kumimoji="1" lang="ja-JP" altLang="en-US" dirty="0"/>
              <a:t>壁面有）</a:t>
            </a:r>
            <a:r>
              <a:rPr kumimoji="1" lang="en-US" altLang="ja-JP" dirty="0"/>
              <a:t>×</a:t>
            </a:r>
            <a:r>
              <a:rPr kumimoji="1" lang="ja-JP" altLang="en-US" dirty="0"/>
              <a:t>（手前</a:t>
            </a:r>
            <a:r>
              <a:rPr kumimoji="1" lang="en-US" altLang="ja-JP" dirty="0"/>
              <a:t>/</a:t>
            </a:r>
            <a:r>
              <a:rPr kumimoji="1" lang="ja-JP" altLang="en-US" dirty="0"/>
              <a:t>奥）</a:t>
            </a:r>
            <a:r>
              <a:rPr kumimoji="1" lang="en-US" altLang="ja-JP" dirty="0"/>
              <a:t>×</a:t>
            </a:r>
            <a:r>
              <a:rPr kumimoji="1" lang="ja-JP" altLang="en-US" dirty="0"/>
              <a:t>（柵北西側</a:t>
            </a:r>
            <a:r>
              <a:rPr kumimoji="1" lang="en-US" altLang="ja-JP" dirty="0"/>
              <a:t>/</a:t>
            </a:r>
            <a:r>
              <a:rPr kumimoji="1" lang="ja-JP" altLang="en-US" dirty="0"/>
              <a:t>柵南東側）</a:t>
            </a:r>
            <a:endParaRPr kumimoji="1" lang="en-US" altLang="ja-JP" dirty="0"/>
          </a:p>
          <a:p>
            <a:r>
              <a:rPr kumimoji="1" lang="ja-JP" altLang="en-US" dirty="0"/>
              <a:t>　　</a:t>
            </a:r>
            <a:r>
              <a:rPr kumimoji="1" lang="en-US" altLang="ja-JP" b="1" dirty="0"/>
              <a:t>=</a:t>
            </a:r>
            <a:r>
              <a:rPr kumimoji="1" lang="ja-JP" altLang="en-US" b="1" dirty="0"/>
              <a:t>計</a:t>
            </a:r>
            <a:r>
              <a:rPr kumimoji="1" lang="en-US" altLang="ja-JP" b="1" dirty="0"/>
              <a:t>16</a:t>
            </a:r>
            <a:r>
              <a:rPr kumimoji="1" lang="ja-JP" altLang="en-US" b="1" dirty="0"/>
              <a:t>パターン</a:t>
            </a:r>
            <a:endParaRPr kumimoji="1" lang="en-US" altLang="ja-JP" b="1" dirty="0"/>
          </a:p>
          <a:p>
            <a:endParaRPr kumimoji="1" lang="en-US" altLang="ja-JP" dirty="0"/>
          </a:p>
          <a:p>
            <a:r>
              <a:rPr kumimoji="1" lang="ja-JP" altLang="en-US" dirty="0"/>
              <a:t>・屋根なしホーム</a:t>
            </a:r>
            <a:r>
              <a:rPr kumimoji="1" lang="en-US" altLang="ja-JP" dirty="0"/>
              <a:t>_</a:t>
            </a:r>
            <a:r>
              <a:rPr kumimoji="1" lang="ja-JP" altLang="en-US" dirty="0"/>
              <a:t>北西側黄線閉じ柵なし</a:t>
            </a:r>
            <a:endParaRPr kumimoji="1" lang="en-US" altLang="ja-JP" dirty="0"/>
          </a:p>
          <a:p>
            <a:r>
              <a:rPr kumimoji="1" lang="ja-JP" altLang="en-US" dirty="0"/>
              <a:t>・屋根なしホーム</a:t>
            </a:r>
            <a:r>
              <a:rPr kumimoji="1" lang="en-US" altLang="ja-JP" dirty="0"/>
              <a:t>_</a:t>
            </a:r>
            <a:r>
              <a:rPr kumimoji="1" lang="ja-JP" altLang="en-US" dirty="0"/>
              <a:t>南東側黄線閉じ柵なし</a:t>
            </a:r>
            <a:endParaRPr kumimoji="1" lang="en-US" altLang="ja-JP" dirty="0"/>
          </a:p>
          <a:p>
            <a:r>
              <a:rPr kumimoji="1" lang="ja-JP" altLang="en-US" dirty="0"/>
              <a:t>　 （壁なし</a:t>
            </a:r>
            <a:r>
              <a:rPr kumimoji="1" lang="en-US" altLang="ja-JP" dirty="0"/>
              <a:t>/</a:t>
            </a:r>
            <a:r>
              <a:rPr kumimoji="1" lang="ja-JP" altLang="en-US" dirty="0"/>
              <a:t>壁面有）</a:t>
            </a:r>
            <a:endParaRPr kumimoji="1" lang="en-US" altLang="ja-JP" dirty="0"/>
          </a:p>
          <a:p>
            <a:r>
              <a:rPr kumimoji="1" lang="ja-JP" altLang="en-US" dirty="0"/>
              <a:t>　　</a:t>
            </a:r>
            <a:r>
              <a:rPr kumimoji="1" lang="en-US" altLang="ja-JP" b="1" dirty="0"/>
              <a:t>=</a:t>
            </a:r>
            <a:r>
              <a:rPr kumimoji="1" lang="ja-JP" altLang="en-US" b="1" dirty="0"/>
              <a:t>計</a:t>
            </a:r>
            <a:r>
              <a:rPr kumimoji="1" lang="en-US" altLang="ja-JP" b="1" dirty="0"/>
              <a:t>4</a:t>
            </a:r>
            <a:r>
              <a:rPr kumimoji="1" lang="ja-JP" altLang="en-US" b="1" dirty="0"/>
              <a:t>パターン</a:t>
            </a:r>
            <a:endParaRPr kumimoji="1" lang="ja-JP" altLang="en-US" dirty="0"/>
          </a:p>
        </p:txBody>
      </p:sp>
      <p:sp>
        <p:nvSpPr>
          <p:cNvPr id="6" name="テキスト ボックス 5">
            <a:extLst>
              <a:ext uri="{FF2B5EF4-FFF2-40B4-BE49-F238E27FC236}">
                <a16:creationId xmlns:a16="http://schemas.microsoft.com/office/drawing/2014/main" id="{09B3B746-79BA-157D-6C56-6B59831F550B}"/>
              </a:ext>
            </a:extLst>
          </p:cNvPr>
          <p:cNvSpPr txBox="1"/>
          <p:nvPr/>
        </p:nvSpPr>
        <p:spPr>
          <a:xfrm>
            <a:off x="1" y="6136898"/>
            <a:ext cx="12192000" cy="523220"/>
          </a:xfrm>
          <a:prstGeom prst="rect">
            <a:avLst/>
          </a:prstGeom>
          <a:noFill/>
        </p:spPr>
        <p:txBody>
          <a:bodyPr wrap="square" rtlCol="0">
            <a:spAutoFit/>
          </a:bodyPr>
          <a:lstStyle/>
          <a:p>
            <a:pPr algn="ctr"/>
            <a:r>
              <a:rPr kumimoji="1" lang="ja-JP" altLang="en-US" sz="2800" dirty="0"/>
              <a:t>パターン</a:t>
            </a:r>
            <a:r>
              <a:rPr kumimoji="1" lang="en-US" altLang="ja-JP" sz="2800" dirty="0"/>
              <a:t>1</a:t>
            </a:r>
            <a:r>
              <a:rPr kumimoji="1" lang="ja-JP" altLang="en-US" sz="2800" dirty="0"/>
              <a:t>　ホーム途中で線路を分岐させる（非電化）</a:t>
            </a:r>
          </a:p>
        </p:txBody>
      </p:sp>
      <p:cxnSp>
        <p:nvCxnSpPr>
          <p:cNvPr id="8" name="直線コネクタ 7">
            <a:extLst>
              <a:ext uri="{FF2B5EF4-FFF2-40B4-BE49-F238E27FC236}">
                <a16:creationId xmlns:a16="http://schemas.microsoft.com/office/drawing/2014/main" id="{AF9FA72E-8611-11A0-70CC-F5610B62BA33}"/>
              </a:ext>
            </a:extLst>
          </p:cNvPr>
          <p:cNvCxnSpPr/>
          <p:nvPr/>
        </p:nvCxnSpPr>
        <p:spPr>
          <a:xfrm>
            <a:off x="990600" y="5781200"/>
            <a:ext cx="102108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C5597178-4BFE-42B7-8400-77AEFDE5D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999" y="6997211"/>
            <a:ext cx="10080000" cy="6966635"/>
          </a:xfrm>
          <a:prstGeom prst="rect">
            <a:avLst/>
          </a:prstGeom>
        </p:spPr>
      </p:pic>
      <p:sp>
        <p:nvSpPr>
          <p:cNvPr id="11" name="テキスト ボックス 10">
            <a:extLst>
              <a:ext uri="{FF2B5EF4-FFF2-40B4-BE49-F238E27FC236}">
                <a16:creationId xmlns:a16="http://schemas.microsoft.com/office/drawing/2014/main" id="{00529D6D-2448-8F22-C699-20530D4B7A12}"/>
              </a:ext>
            </a:extLst>
          </p:cNvPr>
          <p:cNvSpPr txBox="1"/>
          <p:nvPr/>
        </p:nvSpPr>
        <p:spPr>
          <a:xfrm>
            <a:off x="1014764" y="14123192"/>
            <a:ext cx="10162471" cy="646331"/>
          </a:xfrm>
          <a:prstGeom prst="rect">
            <a:avLst/>
          </a:prstGeom>
          <a:noFill/>
        </p:spPr>
        <p:txBody>
          <a:bodyPr wrap="square" rtlCol="0">
            <a:spAutoFit/>
          </a:bodyPr>
          <a:lstStyle/>
          <a:p>
            <a:r>
              <a:rPr kumimoji="1" lang="ja-JP" altLang="en-US" dirty="0"/>
              <a:t>架線属性の駅を使用することで、ホームの途中でも疑似的に線路を分岐させることができます。</a:t>
            </a:r>
            <a:endParaRPr kumimoji="1" lang="en-US" altLang="ja-JP" dirty="0"/>
          </a:p>
          <a:p>
            <a:r>
              <a:rPr kumimoji="1" lang="ja-JP" altLang="en-US" dirty="0"/>
              <a:t>透明架線・透明駅と組み合わせることで、上画像のように見た目を整えることができます。</a:t>
            </a:r>
          </a:p>
        </p:txBody>
      </p:sp>
      <p:pic>
        <p:nvPicPr>
          <p:cNvPr id="13" name="図 12">
            <a:extLst>
              <a:ext uri="{FF2B5EF4-FFF2-40B4-BE49-F238E27FC236}">
                <a16:creationId xmlns:a16="http://schemas.microsoft.com/office/drawing/2014/main" id="{82369AA4-F1C2-C5D7-8C8A-431B80A39C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999" y="15240619"/>
            <a:ext cx="10080000" cy="6767829"/>
          </a:xfrm>
          <a:prstGeom prst="rect">
            <a:avLst/>
          </a:prstGeom>
        </p:spPr>
      </p:pic>
      <p:sp>
        <p:nvSpPr>
          <p:cNvPr id="14" name="テキスト ボックス 13">
            <a:extLst>
              <a:ext uri="{FF2B5EF4-FFF2-40B4-BE49-F238E27FC236}">
                <a16:creationId xmlns:a16="http://schemas.microsoft.com/office/drawing/2014/main" id="{D8D58A52-318D-6C71-6713-2D3E4D4D5A83}"/>
              </a:ext>
            </a:extLst>
          </p:cNvPr>
          <p:cNvSpPr txBox="1"/>
          <p:nvPr/>
        </p:nvSpPr>
        <p:spPr>
          <a:xfrm>
            <a:off x="973529" y="22232595"/>
            <a:ext cx="10162471" cy="369332"/>
          </a:xfrm>
          <a:prstGeom prst="rect">
            <a:avLst/>
          </a:prstGeom>
          <a:noFill/>
        </p:spPr>
        <p:txBody>
          <a:bodyPr wrap="square" rtlCol="0">
            <a:spAutoFit/>
          </a:bodyPr>
          <a:lstStyle/>
          <a:p>
            <a:r>
              <a:rPr kumimoji="1" lang="ja-JP" altLang="en-US" dirty="0"/>
              <a:t>なお、透明駅を使用しないと、このように柵がホーム途中に出現します。</a:t>
            </a:r>
          </a:p>
        </p:txBody>
      </p:sp>
      <p:pic>
        <p:nvPicPr>
          <p:cNvPr id="16" name="図 15">
            <a:extLst>
              <a:ext uri="{FF2B5EF4-FFF2-40B4-BE49-F238E27FC236}">
                <a16:creationId xmlns:a16="http://schemas.microsoft.com/office/drawing/2014/main" id="{D66C5C8B-B323-C4AB-63B6-E3FF9C06C5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5999" y="23034174"/>
            <a:ext cx="10080000" cy="6437347"/>
          </a:xfrm>
          <a:prstGeom prst="rect">
            <a:avLst/>
          </a:prstGeom>
        </p:spPr>
      </p:pic>
      <p:sp>
        <p:nvSpPr>
          <p:cNvPr id="17" name="テキスト ボックス 16">
            <a:extLst>
              <a:ext uri="{FF2B5EF4-FFF2-40B4-BE49-F238E27FC236}">
                <a16:creationId xmlns:a16="http://schemas.microsoft.com/office/drawing/2014/main" id="{45E05A45-D7CB-C1E9-5705-FB84E1C309BD}"/>
              </a:ext>
            </a:extLst>
          </p:cNvPr>
          <p:cNvSpPr txBox="1"/>
          <p:nvPr/>
        </p:nvSpPr>
        <p:spPr>
          <a:xfrm>
            <a:off x="1038930" y="29747945"/>
            <a:ext cx="10162471" cy="369332"/>
          </a:xfrm>
          <a:prstGeom prst="rect">
            <a:avLst/>
          </a:prstGeom>
          <a:noFill/>
        </p:spPr>
        <p:txBody>
          <a:bodyPr wrap="square" rtlCol="0">
            <a:spAutoFit/>
          </a:bodyPr>
          <a:lstStyle/>
          <a:p>
            <a:r>
              <a:rPr kumimoji="1" lang="ja-JP" altLang="en-US" dirty="0"/>
              <a:t>一方、透明架線を使用しないと、同じく柵が出現します。</a:t>
            </a:r>
          </a:p>
        </p:txBody>
      </p:sp>
      <p:sp>
        <p:nvSpPr>
          <p:cNvPr id="18" name="テキスト ボックス 17">
            <a:extLst>
              <a:ext uri="{FF2B5EF4-FFF2-40B4-BE49-F238E27FC236}">
                <a16:creationId xmlns:a16="http://schemas.microsoft.com/office/drawing/2014/main" id="{0D4A522D-1262-FA1F-6500-3B0E09933185}"/>
              </a:ext>
            </a:extLst>
          </p:cNvPr>
          <p:cNvSpPr txBox="1"/>
          <p:nvPr/>
        </p:nvSpPr>
        <p:spPr>
          <a:xfrm>
            <a:off x="1" y="30749499"/>
            <a:ext cx="12192000" cy="523220"/>
          </a:xfrm>
          <a:prstGeom prst="rect">
            <a:avLst/>
          </a:prstGeom>
          <a:noFill/>
        </p:spPr>
        <p:txBody>
          <a:bodyPr wrap="square" rtlCol="0">
            <a:spAutoFit/>
          </a:bodyPr>
          <a:lstStyle/>
          <a:p>
            <a:pPr algn="ctr"/>
            <a:r>
              <a:rPr kumimoji="1" lang="ja-JP" altLang="en-US" sz="2800" dirty="0"/>
              <a:t>パターン</a:t>
            </a:r>
            <a:r>
              <a:rPr kumimoji="1" lang="en-US" altLang="ja-JP" sz="2800" dirty="0"/>
              <a:t>2</a:t>
            </a:r>
            <a:r>
              <a:rPr kumimoji="1" lang="ja-JP" altLang="en-US" sz="2800" dirty="0"/>
              <a:t>　ホーム</a:t>
            </a:r>
            <a:r>
              <a:rPr kumimoji="1" lang="ja-JP" altLang="en-US" sz="2800"/>
              <a:t>途中で線路</a:t>
            </a:r>
            <a:r>
              <a:rPr kumimoji="1" lang="ja-JP" altLang="en-US" sz="2800" dirty="0"/>
              <a:t>を分岐させる（電化）</a:t>
            </a:r>
          </a:p>
        </p:txBody>
      </p:sp>
      <p:cxnSp>
        <p:nvCxnSpPr>
          <p:cNvPr id="19" name="直線コネクタ 18">
            <a:extLst>
              <a:ext uri="{FF2B5EF4-FFF2-40B4-BE49-F238E27FC236}">
                <a16:creationId xmlns:a16="http://schemas.microsoft.com/office/drawing/2014/main" id="{EB840005-24FE-0C1E-33A5-F4D2F511B6FA}"/>
              </a:ext>
            </a:extLst>
          </p:cNvPr>
          <p:cNvCxnSpPr/>
          <p:nvPr/>
        </p:nvCxnSpPr>
        <p:spPr>
          <a:xfrm>
            <a:off x="990600" y="30393799"/>
            <a:ext cx="10210800" cy="0"/>
          </a:xfrm>
          <a:prstGeom prst="line">
            <a:avLst/>
          </a:prstGeom>
        </p:spPr>
        <p:style>
          <a:lnRef idx="1">
            <a:schemeClr val="accent1"/>
          </a:lnRef>
          <a:fillRef idx="0">
            <a:schemeClr val="accent1"/>
          </a:fillRef>
          <a:effectRef idx="0">
            <a:schemeClr val="accent1"/>
          </a:effectRef>
          <a:fontRef idx="minor">
            <a:schemeClr val="tx1"/>
          </a:fontRef>
        </p:style>
      </p:cxnSp>
      <p:pic>
        <p:nvPicPr>
          <p:cNvPr id="21" name="図 20">
            <a:extLst>
              <a:ext uri="{FF2B5EF4-FFF2-40B4-BE49-F238E27FC236}">
                <a16:creationId xmlns:a16="http://schemas.microsoft.com/office/drawing/2014/main" id="{305F71C1-89BB-E7A8-01E6-FF9392DA78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5999" y="31531769"/>
            <a:ext cx="10080000" cy="6565678"/>
          </a:xfrm>
          <a:prstGeom prst="rect">
            <a:avLst/>
          </a:prstGeom>
        </p:spPr>
      </p:pic>
      <p:sp>
        <p:nvSpPr>
          <p:cNvPr id="23" name="テキスト ボックス 22">
            <a:extLst>
              <a:ext uri="{FF2B5EF4-FFF2-40B4-BE49-F238E27FC236}">
                <a16:creationId xmlns:a16="http://schemas.microsoft.com/office/drawing/2014/main" id="{634AA1D7-3D2B-5A62-C3F9-B0DDF9AFD853}"/>
              </a:ext>
            </a:extLst>
          </p:cNvPr>
          <p:cNvSpPr txBox="1"/>
          <p:nvPr/>
        </p:nvSpPr>
        <p:spPr>
          <a:xfrm>
            <a:off x="988769" y="38333066"/>
            <a:ext cx="10162471" cy="923330"/>
          </a:xfrm>
          <a:prstGeom prst="rect">
            <a:avLst/>
          </a:prstGeom>
          <a:noFill/>
        </p:spPr>
        <p:txBody>
          <a:bodyPr wrap="square" rtlCol="0">
            <a:spAutoFit/>
          </a:bodyPr>
          <a:lstStyle/>
          <a:p>
            <a:r>
              <a:rPr kumimoji="1" lang="ja-JP" altLang="en-US" dirty="0"/>
              <a:t>架線属性の駅を使用することで、ホームの途中での線路分岐を実現していましたが、</a:t>
            </a:r>
            <a:endParaRPr kumimoji="1" lang="en-US" altLang="ja-JP" dirty="0"/>
          </a:p>
          <a:p>
            <a:r>
              <a:rPr kumimoji="1" lang="ja-JP" altLang="en-US" dirty="0"/>
              <a:t>電化区間である場合はその前後も電化されていることから不都合が生じます。</a:t>
            </a:r>
            <a:endParaRPr kumimoji="1" lang="en-US" altLang="ja-JP" dirty="0"/>
          </a:p>
          <a:p>
            <a:r>
              <a:rPr kumimoji="1" lang="ja-JP" altLang="en-US" dirty="0"/>
              <a:t>この対策として、信号属性の駅を使用します。</a:t>
            </a:r>
          </a:p>
        </p:txBody>
      </p:sp>
      <p:pic>
        <p:nvPicPr>
          <p:cNvPr id="25" name="図 24">
            <a:extLst>
              <a:ext uri="{FF2B5EF4-FFF2-40B4-BE49-F238E27FC236}">
                <a16:creationId xmlns:a16="http://schemas.microsoft.com/office/drawing/2014/main" id="{1EE44CD7-FF30-DDE9-4628-10EF8754B0E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5999" y="39492017"/>
            <a:ext cx="10080000" cy="6684877"/>
          </a:xfrm>
          <a:prstGeom prst="rect">
            <a:avLst/>
          </a:prstGeom>
        </p:spPr>
      </p:pic>
      <p:sp>
        <p:nvSpPr>
          <p:cNvPr id="26" name="テキスト ボックス 25">
            <a:extLst>
              <a:ext uri="{FF2B5EF4-FFF2-40B4-BE49-F238E27FC236}">
                <a16:creationId xmlns:a16="http://schemas.microsoft.com/office/drawing/2014/main" id="{72146DE0-009B-3027-6FF6-205072BC58FF}"/>
              </a:ext>
            </a:extLst>
          </p:cNvPr>
          <p:cNvSpPr txBox="1"/>
          <p:nvPr/>
        </p:nvSpPr>
        <p:spPr>
          <a:xfrm>
            <a:off x="988769" y="46516946"/>
            <a:ext cx="10162471" cy="1754326"/>
          </a:xfrm>
          <a:prstGeom prst="rect">
            <a:avLst/>
          </a:prstGeom>
          <a:noFill/>
        </p:spPr>
        <p:txBody>
          <a:bodyPr wrap="square" rtlCol="0">
            <a:spAutoFit/>
          </a:bodyPr>
          <a:lstStyle/>
          <a:p>
            <a:r>
              <a:rPr kumimoji="1" lang="ja-JP" altLang="en-US" dirty="0"/>
              <a:t>信号属性の駅を使用しない場合、仕様上柵が消失します。</a:t>
            </a:r>
            <a:endParaRPr kumimoji="1" lang="en-US" altLang="ja-JP" dirty="0"/>
          </a:p>
          <a:p>
            <a:r>
              <a:rPr kumimoji="1" lang="ja-JP" altLang="en-US" dirty="0"/>
              <a:t>なお、電化区間の場合架線が双方向につながっているため、非電化の場合で使用した</a:t>
            </a:r>
            <a:endParaRPr kumimoji="1" lang="en-US" altLang="ja-JP" dirty="0"/>
          </a:p>
          <a:p>
            <a:r>
              <a:rPr kumimoji="1" lang="ja-JP" altLang="en-US" dirty="0"/>
              <a:t>透明架線を使う必要はありません。</a:t>
            </a:r>
            <a:endParaRPr kumimoji="1" lang="en-US" altLang="ja-JP" dirty="0"/>
          </a:p>
          <a:p>
            <a:endParaRPr kumimoji="1" lang="en-US" altLang="ja-JP" dirty="0"/>
          </a:p>
          <a:p>
            <a:r>
              <a:rPr kumimoji="1" lang="ja-JP" altLang="en-US" dirty="0"/>
              <a:t>今回、「架線」部分はきたすみ様の「</a:t>
            </a:r>
            <a:r>
              <a:rPr lang="en-US" altLang="ja-JP" i="0" dirty="0">
                <a:solidFill>
                  <a:srgbClr val="000000"/>
                </a:solidFill>
                <a:effectLst/>
                <a:latin typeface="verdana" panose="020B0604030504040204" pitchFamily="34" charset="0"/>
              </a:rPr>
              <a:t>KSN</a:t>
            </a:r>
            <a:r>
              <a:rPr lang="ja-JP" altLang="en-US" i="0" dirty="0">
                <a:solidFill>
                  <a:srgbClr val="000000"/>
                </a:solidFill>
                <a:effectLst/>
                <a:latin typeface="verdana" panose="020B0604030504040204" pitchFamily="34" charset="0"/>
              </a:rPr>
              <a:t>式セパレート型架線セット</a:t>
            </a:r>
            <a:r>
              <a:rPr lang="en-US" altLang="ja-JP" i="0" dirty="0">
                <a:solidFill>
                  <a:srgbClr val="000000"/>
                </a:solidFill>
                <a:effectLst/>
                <a:latin typeface="verdana" panose="020B0604030504040204" pitchFamily="34" charset="0"/>
              </a:rPr>
              <a:t>128</a:t>
            </a:r>
            <a:r>
              <a:rPr lang="ja-JP" altLang="en-US" i="0" dirty="0">
                <a:solidFill>
                  <a:srgbClr val="000000"/>
                </a:solidFill>
                <a:effectLst/>
                <a:latin typeface="verdana" panose="020B0604030504040204" pitchFamily="34" charset="0"/>
              </a:rPr>
              <a:t>」を使用させていただいております。</a:t>
            </a:r>
            <a:endParaRPr kumimoji="1" lang="ja-JP" altLang="en-US" dirty="0"/>
          </a:p>
        </p:txBody>
      </p:sp>
    </p:spTree>
    <p:extLst>
      <p:ext uri="{BB962C8B-B14F-4D97-AF65-F5344CB8AC3E}">
        <p14:creationId xmlns:p14="http://schemas.microsoft.com/office/powerpoint/2010/main" val="106087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8F2C8FC-EA53-88DF-77F4-37FD775BCEF7}"/>
              </a:ext>
            </a:extLst>
          </p:cNvPr>
          <p:cNvSpPr txBox="1"/>
          <p:nvPr/>
        </p:nvSpPr>
        <p:spPr>
          <a:xfrm>
            <a:off x="1" y="406659"/>
            <a:ext cx="12192000" cy="523220"/>
          </a:xfrm>
          <a:prstGeom prst="rect">
            <a:avLst/>
          </a:prstGeom>
          <a:noFill/>
        </p:spPr>
        <p:txBody>
          <a:bodyPr wrap="square" rtlCol="0">
            <a:spAutoFit/>
          </a:bodyPr>
          <a:lstStyle/>
          <a:p>
            <a:pPr algn="ctr"/>
            <a:r>
              <a:rPr kumimoji="1" lang="ja-JP" altLang="en-US" sz="2800" dirty="0"/>
              <a:t>パターン</a:t>
            </a:r>
            <a:r>
              <a:rPr kumimoji="1" lang="en-US" altLang="ja-JP" sz="2800" dirty="0"/>
              <a:t>3</a:t>
            </a:r>
            <a:r>
              <a:rPr kumimoji="1" lang="ja-JP" altLang="en-US" sz="2800" dirty="0"/>
              <a:t>　架線属性の駅だけで駅を作る</a:t>
            </a:r>
          </a:p>
        </p:txBody>
      </p:sp>
      <p:pic>
        <p:nvPicPr>
          <p:cNvPr id="6" name="図 5">
            <a:extLst>
              <a:ext uri="{FF2B5EF4-FFF2-40B4-BE49-F238E27FC236}">
                <a16:creationId xmlns:a16="http://schemas.microsoft.com/office/drawing/2014/main" id="{1C6E1C80-12FC-0449-669F-89BCEF8C68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6001" y="1239679"/>
            <a:ext cx="10080000" cy="6498783"/>
          </a:xfrm>
          <a:prstGeom prst="rect">
            <a:avLst/>
          </a:prstGeom>
        </p:spPr>
      </p:pic>
      <p:sp>
        <p:nvSpPr>
          <p:cNvPr id="7" name="テキスト ボックス 6">
            <a:extLst>
              <a:ext uri="{FF2B5EF4-FFF2-40B4-BE49-F238E27FC236}">
                <a16:creationId xmlns:a16="http://schemas.microsoft.com/office/drawing/2014/main" id="{B474EAD3-F389-4C5F-17D1-EC1BA63BD135}"/>
              </a:ext>
            </a:extLst>
          </p:cNvPr>
          <p:cNvSpPr txBox="1"/>
          <p:nvPr/>
        </p:nvSpPr>
        <p:spPr>
          <a:xfrm>
            <a:off x="1056001" y="7981473"/>
            <a:ext cx="10162471" cy="646331"/>
          </a:xfrm>
          <a:prstGeom prst="rect">
            <a:avLst/>
          </a:prstGeom>
          <a:noFill/>
        </p:spPr>
        <p:txBody>
          <a:bodyPr wrap="square" rtlCol="0">
            <a:spAutoFit/>
          </a:bodyPr>
          <a:lstStyle/>
          <a:p>
            <a:r>
              <a:rPr kumimoji="1" lang="ja-JP" altLang="en-US" dirty="0"/>
              <a:t>上の画像を見るとあたかも駅が存在するかのように見えますが、駅属性としては存在しません。</a:t>
            </a:r>
            <a:endParaRPr kumimoji="1" lang="en-US" altLang="ja-JP" dirty="0"/>
          </a:p>
          <a:p>
            <a:r>
              <a:rPr kumimoji="1" lang="ja-JP" altLang="en-US" dirty="0"/>
              <a:t>バリエーションはありませんが、架線属性の駅だけでも駅の見た目をさせることが可能です。</a:t>
            </a:r>
          </a:p>
        </p:txBody>
      </p:sp>
      <p:pic>
        <p:nvPicPr>
          <p:cNvPr id="9" name="図 8">
            <a:extLst>
              <a:ext uri="{FF2B5EF4-FFF2-40B4-BE49-F238E27FC236}">
                <a16:creationId xmlns:a16="http://schemas.microsoft.com/office/drawing/2014/main" id="{9407AFB7-253C-CECF-C650-7175606A43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235" y="9443561"/>
            <a:ext cx="10080000" cy="6415638"/>
          </a:xfrm>
          <a:prstGeom prst="rect">
            <a:avLst/>
          </a:prstGeom>
        </p:spPr>
      </p:pic>
      <p:sp>
        <p:nvSpPr>
          <p:cNvPr id="10" name="テキスト ボックス 9">
            <a:extLst>
              <a:ext uri="{FF2B5EF4-FFF2-40B4-BE49-F238E27FC236}">
                <a16:creationId xmlns:a16="http://schemas.microsoft.com/office/drawing/2014/main" id="{39E67070-2292-167D-D388-D729DFFC6309}"/>
              </a:ext>
            </a:extLst>
          </p:cNvPr>
          <p:cNvSpPr txBox="1"/>
          <p:nvPr/>
        </p:nvSpPr>
        <p:spPr>
          <a:xfrm>
            <a:off x="1097236" y="16211072"/>
            <a:ext cx="10162471" cy="2862322"/>
          </a:xfrm>
          <a:prstGeom prst="rect">
            <a:avLst/>
          </a:prstGeom>
          <a:noFill/>
        </p:spPr>
        <p:txBody>
          <a:bodyPr wrap="square" rtlCol="0">
            <a:spAutoFit/>
          </a:bodyPr>
          <a:lstStyle/>
          <a:p>
            <a:r>
              <a:rPr kumimoji="1" lang="ja-JP" altLang="en-US" dirty="0"/>
              <a:t>島式ホーム部分は架線属性なので、上側の線路のように他のホームを設置することが可能です。</a:t>
            </a:r>
            <a:endParaRPr kumimoji="1" lang="en-US" altLang="ja-JP" dirty="0"/>
          </a:p>
          <a:p>
            <a:r>
              <a:rPr kumimoji="1" lang="ja-JP" altLang="en-US" dirty="0"/>
              <a:t>見た目・高さが違うホームを疑似的に隣接させることも可能です。</a:t>
            </a:r>
            <a:endParaRPr kumimoji="1" lang="en-US" altLang="ja-JP" dirty="0"/>
          </a:p>
          <a:p>
            <a:r>
              <a:rPr kumimoji="1" lang="ja-JP" altLang="en-US" dirty="0"/>
              <a:t>この場合、そのマス自体に駅が「駅属性」として存在しているので、</a:t>
            </a:r>
            <a:endParaRPr kumimoji="1" lang="en-US" altLang="ja-JP" dirty="0"/>
          </a:p>
          <a:p>
            <a:r>
              <a:rPr kumimoji="1" lang="ja-JP" altLang="en-US" dirty="0"/>
              <a:t>列車は客扱いをすることができます。</a:t>
            </a:r>
            <a:endParaRPr kumimoji="1" lang="en-US" altLang="ja-JP" dirty="0"/>
          </a:p>
          <a:p>
            <a:r>
              <a:rPr kumimoji="1" lang="ja-JP" altLang="en-US" dirty="0"/>
              <a:t>なお、同じ側にホームを設置すると描画がうまくいきません。（仕様）</a:t>
            </a:r>
            <a:endParaRPr kumimoji="1" lang="en-US" altLang="ja-JP" dirty="0"/>
          </a:p>
          <a:p>
            <a:r>
              <a:rPr kumimoji="1" lang="ja-JP" altLang="en-US" dirty="0"/>
              <a:t>ここで、駅属性の鉄橋アドオンを使用することで、土佐北川駅（鉄橋の中にある駅）を再現することが可能です。</a:t>
            </a:r>
            <a:endParaRPr kumimoji="1" lang="en-US" altLang="ja-JP" dirty="0"/>
          </a:p>
          <a:p>
            <a:endParaRPr kumimoji="1" lang="en-US" altLang="ja-JP" dirty="0"/>
          </a:p>
          <a:p>
            <a:r>
              <a:rPr kumimoji="1" lang="ja-JP" altLang="en-US" dirty="0"/>
              <a:t>一方、架線属性なので下側の線路のように線路の分岐はさせ放題です。</a:t>
            </a:r>
            <a:endParaRPr kumimoji="1" lang="en-US" altLang="ja-JP" dirty="0"/>
          </a:p>
          <a:p>
            <a:r>
              <a:rPr kumimoji="1" lang="en-US" altLang="ja-JP" dirty="0" err="1"/>
              <a:t>Simutrans</a:t>
            </a:r>
            <a:r>
              <a:rPr kumimoji="1" lang="ja-JP" altLang="en-US" dirty="0"/>
              <a:t>の仕様上駅属性の駅は設置することは出来ません。</a:t>
            </a:r>
            <a:endParaRPr kumimoji="1" lang="en-US" altLang="ja-JP" dirty="0"/>
          </a:p>
        </p:txBody>
      </p:sp>
      <p:pic>
        <p:nvPicPr>
          <p:cNvPr id="12" name="図 11">
            <a:extLst>
              <a:ext uri="{FF2B5EF4-FFF2-40B4-BE49-F238E27FC236}">
                <a16:creationId xmlns:a16="http://schemas.microsoft.com/office/drawing/2014/main" id="{8286DEDE-1EC7-FD1C-B618-750F75F52B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6001" y="19590657"/>
            <a:ext cx="10080000" cy="6370355"/>
          </a:xfrm>
          <a:prstGeom prst="rect">
            <a:avLst/>
          </a:prstGeom>
        </p:spPr>
      </p:pic>
      <p:sp>
        <p:nvSpPr>
          <p:cNvPr id="13" name="テキスト ボックス 12">
            <a:extLst>
              <a:ext uri="{FF2B5EF4-FFF2-40B4-BE49-F238E27FC236}">
                <a16:creationId xmlns:a16="http://schemas.microsoft.com/office/drawing/2014/main" id="{08FE35A2-EC9D-303A-E0A9-EB0DFB16D485}"/>
              </a:ext>
            </a:extLst>
          </p:cNvPr>
          <p:cNvSpPr txBox="1"/>
          <p:nvPr/>
        </p:nvSpPr>
        <p:spPr>
          <a:xfrm>
            <a:off x="1056001" y="26273741"/>
            <a:ext cx="10162471" cy="2308324"/>
          </a:xfrm>
          <a:prstGeom prst="rect">
            <a:avLst/>
          </a:prstGeom>
          <a:noFill/>
        </p:spPr>
        <p:txBody>
          <a:bodyPr wrap="square" rtlCol="0">
            <a:spAutoFit/>
          </a:bodyPr>
          <a:lstStyle/>
          <a:p>
            <a:r>
              <a:rPr kumimoji="1" lang="ja-JP" altLang="en-US" dirty="0"/>
              <a:t>一見</a:t>
            </a:r>
            <a:r>
              <a:rPr kumimoji="1" lang="en-US" altLang="ja-JP" dirty="0"/>
              <a:t>2</a:t>
            </a:r>
            <a:r>
              <a:rPr kumimoji="1" lang="ja-JP" altLang="en-US" dirty="0"/>
              <a:t>つ上の画像と同じように見えますが、この駅では列車が客扱いすることが可能です。</a:t>
            </a:r>
            <a:endParaRPr kumimoji="1" lang="en-US" altLang="ja-JP" dirty="0"/>
          </a:p>
          <a:p>
            <a:r>
              <a:rPr kumimoji="1" lang="ja-JP" altLang="en-US" dirty="0"/>
              <a:t>これは架線属性の駅で見た目を作り、同じマスに透明の駅を設置しています。</a:t>
            </a:r>
            <a:endParaRPr kumimoji="1" lang="en-US" altLang="ja-JP" dirty="0"/>
          </a:p>
          <a:p>
            <a:r>
              <a:rPr kumimoji="1" lang="ja-JP" altLang="en-US" dirty="0"/>
              <a:t>ここまでして駅を置く理由があるかは置いといて、</a:t>
            </a:r>
            <a:endParaRPr kumimoji="1" lang="en-US" altLang="ja-JP" dirty="0"/>
          </a:p>
          <a:p>
            <a:r>
              <a:rPr kumimoji="1" lang="ja-JP" altLang="en-US" dirty="0"/>
              <a:t>このような形でも駅設置を実現させることができます。</a:t>
            </a:r>
            <a:endParaRPr kumimoji="1" lang="en-US" altLang="ja-JP" dirty="0"/>
          </a:p>
          <a:p>
            <a:endParaRPr kumimoji="1" lang="en-US" altLang="ja-JP" dirty="0"/>
          </a:p>
          <a:p>
            <a:endParaRPr kumimoji="1" lang="en-US" altLang="ja-JP" dirty="0"/>
          </a:p>
          <a:p>
            <a:r>
              <a:rPr kumimoji="1" lang="ja-JP" altLang="en-US" dirty="0"/>
              <a:t>なお、電化する場合はパターン</a:t>
            </a:r>
            <a:r>
              <a:rPr kumimoji="1" lang="en-US" altLang="ja-JP" dirty="0"/>
              <a:t>2</a:t>
            </a:r>
            <a:r>
              <a:rPr kumimoji="1" lang="ja-JP" altLang="en-US" dirty="0"/>
              <a:t>のように「信号属性の駅」を使用すると見栄えが良くなります。</a:t>
            </a:r>
            <a:endParaRPr kumimoji="1" lang="en-US" altLang="ja-JP" dirty="0"/>
          </a:p>
          <a:p>
            <a:r>
              <a:rPr kumimoji="1" lang="ja-JP" altLang="en-US" dirty="0"/>
              <a:t>信号属性の駅でも線路を分岐させる・駅を設置することが可能です。</a:t>
            </a:r>
          </a:p>
        </p:txBody>
      </p:sp>
      <p:sp>
        <p:nvSpPr>
          <p:cNvPr id="14" name="テキスト ボックス 13">
            <a:extLst>
              <a:ext uri="{FF2B5EF4-FFF2-40B4-BE49-F238E27FC236}">
                <a16:creationId xmlns:a16="http://schemas.microsoft.com/office/drawing/2014/main" id="{91522DA4-CEF0-3BD9-8F6C-9F2A9BF9A64A}"/>
              </a:ext>
            </a:extLst>
          </p:cNvPr>
          <p:cNvSpPr txBox="1"/>
          <p:nvPr/>
        </p:nvSpPr>
        <p:spPr>
          <a:xfrm>
            <a:off x="1" y="29255979"/>
            <a:ext cx="12192000" cy="523220"/>
          </a:xfrm>
          <a:prstGeom prst="rect">
            <a:avLst/>
          </a:prstGeom>
          <a:noFill/>
        </p:spPr>
        <p:txBody>
          <a:bodyPr wrap="square" rtlCol="0">
            <a:spAutoFit/>
          </a:bodyPr>
          <a:lstStyle/>
          <a:p>
            <a:pPr algn="ctr"/>
            <a:r>
              <a:rPr kumimoji="1" lang="ja-JP" altLang="en-US" sz="2800" dirty="0"/>
              <a:t>パターン</a:t>
            </a:r>
            <a:r>
              <a:rPr kumimoji="1" lang="en-US" altLang="ja-JP" sz="2800" dirty="0"/>
              <a:t>4</a:t>
            </a:r>
            <a:r>
              <a:rPr kumimoji="1" lang="ja-JP" altLang="en-US" sz="2800" dirty="0"/>
              <a:t>　ホーム途中が柵で封じられたホームを作る</a:t>
            </a:r>
          </a:p>
        </p:txBody>
      </p:sp>
      <p:cxnSp>
        <p:nvCxnSpPr>
          <p:cNvPr id="15" name="直線コネクタ 14">
            <a:extLst>
              <a:ext uri="{FF2B5EF4-FFF2-40B4-BE49-F238E27FC236}">
                <a16:creationId xmlns:a16="http://schemas.microsoft.com/office/drawing/2014/main" id="{60E25272-0180-5D34-F508-3AD51B79D56F}"/>
              </a:ext>
            </a:extLst>
          </p:cNvPr>
          <p:cNvCxnSpPr/>
          <p:nvPr/>
        </p:nvCxnSpPr>
        <p:spPr>
          <a:xfrm>
            <a:off x="990600" y="28900279"/>
            <a:ext cx="102108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7" name="図 16" descr="草の上に置かれたナイフ&#10;&#10;低い精度で自動的に生成された説明">
            <a:extLst>
              <a:ext uri="{FF2B5EF4-FFF2-40B4-BE49-F238E27FC236}">
                <a16:creationId xmlns:a16="http://schemas.microsoft.com/office/drawing/2014/main" id="{03AB8E5C-C7C7-19DD-085A-E6A4115E2E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6001" y="29963360"/>
            <a:ext cx="10080000" cy="6960505"/>
          </a:xfrm>
          <a:prstGeom prst="rect">
            <a:avLst/>
          </a:prstGeom>
        </p:spPr>
      </p:pic>
      <p:sp>
        <p:nvSpPr>
          <p:cNvPr id="18" name="テキスト ボックス 17">
            <a:extLst>
              <a:ext uri="{FF2B5EF4-FFF2-40B4-BE49-F238E27FC236}">
                <a16:creationId xmlns:a16="http://schemas.microsoft.com/office/drawing/2014/main" id="{1BC91BCE-33DF-BE84-92BA-2A31F95DEC69}"/>
              </a:ext>
            </a:extLst>
          </p:cNvPr>
          <p:cNvSpPr txBox="1"/>
          <p:nvPr/>
        </p:nvSpPr>
        <p:spPr>
          <a:xfrm>
            <a:off x="1056001" y="37233735"/>
            <a:ext cx="10162471" cy="646331"/>
          </a:xfrm>
          <a:prstGeom prst="rect">
            <a:avLst/>
          </a:prstGeom>
          <a:noFill/>
        </p:spPr>
        <p:txBody>
          <a:bodyPr wrap="square" rtlCol="0">
            <a:spAutoFit/>
          </a:bodyPr>
          <a:lstStyle/>
          <a:p>
            <a:r>
              <a:rPr kumimoji="1" lang="ja-JP" altLang="en-US" dirty="0"/>
              <a:t>配置の仕方としてはパターン</a:t>
            </a:r>
            <a:r>
              <a:rPr kumimoji="1" lang="en-US" altLang="ja-JP" dirty="0"/>
              <a:t>1</a:t>
            </a:r>
            <a:r>
              <a:rPr kumimoji="1" lang="ja-JP" altLang="en-US" dirty="0"/>
              <a:t>の</a:t>
            </a:r>
            <a:r>
              <a:rPr kumimoji="1" lang="en-US" altLang="ja-JP" dirty="0"/>
              <a:t>2</a:t>
            </a:r>
            <a:r>
              <a:rPr kumimoji="1" lang="ja-JP" altLang="en-US" dirty="0"/>
              <a:t>枚目と同じですが、このようにするとホーム途中を柵で</a:t>
            </a:r>
            <a:endParaRPr kumimoji="1" lang="en-US" altLang="ja-JP" dirty="0"/>
          </a:p>
          <a:p>
            <a:r>
              <a:rPr kumimoji="1" lang="ja-JP" altLang="en-US" dirty="0"/>
              <a:t>仕切られた駅を作成することができます。</a:t>
            </a:r>
            <a:endParaRPr kumimoji="1" lang="en-US" altLang="ja-JP" dirty="0"/>
          </a:p>
        </p:txBody>
      </p:sp>
      <p:pic>
        <p:nvPicPr>
          <p:cNvPr id="20" name="図 19" descr="草の上に置かれたナイフ&#10;&#10;低い精度で自動的に生成された説明">
            <a:extLst>
              <a:ext uri="{FF2B5EF4-FFF2-40B4-BE49-F238E27FC236}">
                <a16:creationId xmlns:a16="http://schemas.microsoft.com/office/drawing/2014/main" id="{5268DF46-A9D6-FB37-A52D-8C0E959EA83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6001" y="38352031"/>
            <a:ext cx="10080000" cy="6793043"/>
          </a:xfrm>
          <a:prstGeom prst="rect">
            <a:avLst/>
          </a:prstGeom>
        </p:spPr>
      </p:pic>
      <p:sp>
        <p:nvSpPr>
          <p:cNvPr id="21" name="テキスト ボックス 20">
            <a:extLst>
              <a:ext uri="{FF2B5EF4-FFF2-40B4-BE49-F238E27FC236}">
                <a16:creationId xmlns:a16="http://schemas.microsoft.com/office/drawing/2014/main" id="{E525C751-55C6-F5E7-919C-91C11A269AFA}"/>
              </a:ext>
            </a:extLst>
          </p:cNvPr>
          <p:cNvSpPr txBox="1"/>
          <p:nvPr/>
        </p:nvSpPr>
        <p:spPr>
          <a:xfrm>
            <a:off x="1014767" y="45411454"/>
            <a:ext cx="10162471" cy="646331"/>
          </a:xfrm>
          <a:prstGeom prst="rect">
            <a:avLst/>
          </a:prstGeom>
          <a:noFill/>
        </p:spPr>
        <p:txBody>
          <a:bodyPr wrap="square" rtlCol="0">
            <a:spAutoFit/>
          </a:bodyPr>
          <a:lstStyle/>
          <a:p>
            <a:r>
              <a:rPr kumimoji="1" lang="ja-JP" altLang="en-US" dirty="0"/>
              <a:t>ここで、先ほどの画像の「架線属性駅」部分を「黄線無し」に置き換えると、</a:t>
            </a:r>
            <a:endParaRPr kumimoji="1" lang="en-US" altLang="ja-JP" dirty="0"/>
          </a:p>
          <a:p>
            <a:r>
              <a:rPr kumimoji="1" lang="ja-JP" altLang="en-US" dirty="0"/>
              <a:t>画像のように「長編成が来なくなったのでホーム先端が用済みになった駅」が再現できます。</a:t>
            </a:r>
            <a:endParaRPr kumimoji="1" lang="en-US" altLang="ja-JP" dirty="0"/>
          </a:p>
        </p:txBody>
      </p:sp>
    </p:spTree>
    <p:extLst>
      <p:ext uri="{BB962C8B-B14F-4D97-AF65-F5344CB8AC3E}">
        <p14:creationId xmlns:p14="http://schemas.microsoft.com/office/powerpoint/2010/main" val="4122965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89DAE59-8050-ED47-11CB-330E30FE2B5D}"/>
              </a:ext>
            </a:extLst>
          </p:cNvPr>
          <p:cNvSpPr txBox="1"/>
          <p:nvPr/>
        </p:nvSpPr>
        <p:spPr>
          <a:xfrm>
            <a:off x="0" y="396240"/>
            <a:ext cx="12192000" cy="523220"/>
          </a:xfrm>
          <a:prstGeom prst="rect">
            <a:avLst/>
          </a:prstGeom>
          <a:noFill/>
        </p:spPr>
        <p:txBody>
          <a:bodyPr wrap="square" rtlCol="0">
            <a:spAutoFit/>
          </a:bodyPr>
          <a:lstStyle/>
          <a:p>
            <a:pPr algn="ctr"/>
            <a:r>
              <a:rPr kumimoji="1" lang="ja-JP" altLang="en-US" sz="2800" dirty="0"/>
              <a:t>パターン</a:t>
            </a:r>
            <a:r>
              <a:rPr kumimoji="1" lang="en-US" altLang="ja-JP" sz="2800" dirty="0"/>
              <a:t>5</a:t>
            </a:r>
            <a:r>
              <a:rPr kumimoji="1" lang="ja-JP" altLang="en-US" sz="2800" dirty="0"/>
              <a:t>　ホーム途中が黄線で封じられたホームを作る</a:t>
            </a:r>
          </a:p>
        </p:txBody>
      </p:sp>
      <p:sp>
        <p:nvSpPr>
          <p:cNvPr id="7" name="テキスト ボックス 6">
            <a:extLst>
              <a:ext uri="{FF2B5EF4-FFF2-40B4-BE49-F238E27FC236}">
                <a16:creationId xmlns:a16="http://schemas.microsoft.com/office/drawing/2014/main" id="{A1BF07D9-A302-E97F-CCD3-5E1ED58038A6}"/>
              </a:ext>
            </a:extLst>
          </p:cNvPr>
          <p:cNvSpPr txBox="1"/>
          <p:nvPr/>
        </p:nvSpPr>
        <p:spPr>
          <a:xfrm>
            <a:off x="1056000" y="8408193"/>
            <a:ext cx="10162471" cy="1200329"/>
          </a:xfrm>
          <a:prstGeom prst="rect">
            <a:avLst/>
          </a:prstGeom>
          <a:noFill/>
        </p:spPr>
        <p:txBody>
          <a:bodyPr wrap="square" rtlCol="0">
            <a:spAutoFit/>
          </a:bodyPr>
          <a:lstStyle/>
          <a:p>
            <a:r>
              <a:rPr kumimoji="1" lang="ja-JP" altLang="en-US" dirty="0"/>
              <a:t>パターン</a:t>
            </a:r>
            <a:r>
              <a:rPr kumimoji="1" lang="en-US" altLang="ja-JP" dirty="0"/>
              <a:t>4</a:t>
            </a:r>
            <a:r>
              <a:rPr kumimoji="1" lang="ja-JP" altLang="en-US" dirty="0"/>
              <a:t>の柵なしバージョンです。ホームの先には行けるけど黄線がないというホームです。</a:t>
            </a:r>
            <a:endParaRPr kumimoji="1" lang="en-US" altLang="ja-JP" dirty="0"/>
          </a:p>
          <a:p>
            <a:r>
              <a:rPr kumimoji="1" lang="ja-JP" altLang="en-US" dirty="0"/>
              <a:t>このセットを導入されると追加される「駅属性の駅」はここで使用します。</a:t>
            </a:r>
            <a:endParaRPr kumimoji="1" lang="en-US" altLang="ja-JP" dirty="0"/>
          </a:p>
          <a:p>
            <a:endParaRPr kumimoji="1" lang="en-US" altLang="ja-JP" dirty="0"/>
          </a:p>
          <a:p>
            <a:r>
              <a:rPr kumimoji="1" lang="ja-JP" altLang="en-US" dirty="0"/>
              <a:t>パターン</a:t>
            </a:r>
            <a:r>
              <a:rPr kumimoji="1" lang="en-US" altLang="ja-JP" dirty="0"/>
              <a:t>4,5</a:t>
            </a:r>
            <a:r>
              <a:rPr kumimoji="1" lang="ja-JP" altLang="en-US" dirty="0"/>
              <a:t>ともに電化区間の場合は信号属性の駅を活用すると見栄えが整います。</a:t>
            </a:r>
            <a:endParaRPr kumimoji="1" lang="en-US" altLang="ja-JP" dirty="0"/>
          </a:p>
        </p:txBody>
      </p:sp>
      <p:pic>
        <p:nvPicPr>
          <p:cNvPr id="9" name="図 8" descr="草, ナイフ が含まれている画像&#10;&#10;自動的に生成された説明">
            <a:extLst>
              <a:ext uri="{FF2B5EF4-FFF2-40B4-BE49-F238E27FC236}">
                <a16:creationId xmlns:a16="http://schemas.microsoft.com/office/drawing/2014/main" id="{DAB7EB1B-1DC8-2D0E-1C8B-2D42265043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6000" y="1195496"/>
            <a:ext cx="10080000" cy="6936660"/>
          </a:xfrm>
          <a:prstGeom prst="rect">
            <a:avLst/>
          </a:prstGeom>
        </p:spPr>
      </p:pic>
      <p:sp>
        <p:nvSpPr>
          <p:cNvPr id="10" name="テキスト ボックス 9">
            <a:extLst>
              <a:ext uri="{FF2B5EF4-FFF2-40B4-BE49-F238E27FC236}">
                <a16:creationId xmlns:a16="http://schemas.microsoft.com/office/drawing/2014/main" id="{8D3935E2-1388-FE9E-CC6D-050D353E49C0}"/>
              </a:ext>
            </a:extLst>
          </p:cNvPr>
          <p:cNvSpPr txBox="1"/>
          <p:nvPr/>
        </p:nvSpPr>
        <p:spPr>
          <a:xfrm>
            <a:off x="1" y="10571739"/>
            <a:ext cx="12192000" cy="523220"/>
          </a:xfrm>
          <a:prstGeom prst="rect">
            <a:avLst/>
          </a:prstGeom>
          <a:noFill/>
        </p:spPr>
        <p:txBody>
          <a:bodyPr wrap="square" rtlCol="0">
            <a:spAutoFit/>
          </a:bodyPr>
          <a:lstStyle/>
          <a:p>
            <a:pPr algn="ctr"/>
            <a:r>
              <a:rPr kumimoji="1" lang="ja-JP" altLang="en-US" sz="2800" dirty="0"/>
              <a:t>活用例</a:t>
            </a:r>
          </a:p>
        </p:txBody>
      </p:sp>
      <p:cxnSp>
        <p:nvCxnSpPr>
          <p:cNvPr id="11" name="直線コネクタ 10">
            <a:extLst>
              <a:ext uri="{FF2B5EF4-FFF2-40B4-BE49-F238E27FC236}">
                <a16:creationId xmlns:a16="http://schemas.microsoft.com/office/drawing/2014/main" id="{773962F7-F6AA-AE08-418B-6FC12B918A8E}"/>
              </a:ext>
            </a:extLst>
          </p:cNvPr>
          <p:cNvCxnSpPr/>
          <p:nvPr/>
        </p:nvCxnSpPr>
        <p:spPr>
          <a:xfrm>
            <a:off x="990600" y="10216039"/>
            <a:ext cx="102108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FEA411BA-A569-A6D9-0717-280BB45EFF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000" y="11335226"/>
            <a:ext cx="10080000" cy="6338370"/>
          </a:xfrm>
          <a:prstGeom prst="rect">
            <a:avLst/>
          </a:prstGeom>
        </p:spPr>
      </p:pic>
      <p:sp>
        <p:nvSpPr>
          <p:cNvPr id="14" name="テキスト ボックス 13">
            <a:extLst>
              <a:ext uri="{FF2B5EF4-FFF2-40B4-BE49-F238E27FC236}">
                <a16:creationId xmlns:a16="http://schemas.microsoft.com/office/drawing/2014/main" id="{038359C0-56AB-A9D1-41F6-04049E50110E}"/>
              </a:ext>
            </a:extLst>
          </p:cNvPr>
          <p:cNvSpPr txBox="1"/>
          <p:nvPr/>
        </p:nvSpPr>
        <p:spPr>
          <a:xfrm>
            <a:off x="1056000" y="18311575"/>
            <a:ext cx="10162471" cy="923330"/>
          </a:xfrm>
          <a:prstGeom prst="rect">
            <a:avLst/>
          </a:prstGeom>
          <a:noFill/>
        </p:spPr>
        <p:txBody>
          <a:bodyPr wrap="square" rtlCol="0">
            <a:spAutoFit/>
          </a:bodyPr>
          <a:lstStyle/>
          <a:p>
            <a:r>
              <a:rPr kumimoji="1" lang="ja-JP" altLang="en-US" dirty="0"/>
              <a:t>ホーム途中に東海道本線から駿豆線への分岐器が設置されている三島駅の再現例です。</a:t>
            </a:r>
            <a:endParaRPr kumimoji="1" lang="en-US" altLang="ja-JP" dirty="0"/>
          </a:p>
          <a:p>
            <a:r>
              <a:rPr kumimoji="1" lang="ja-JP" altLang="en-US" dirty="0"/>
              <a:t>分岐器があるマスは架線属性駅を、その前後のマスは架線属性駅＋透明駅を設置しています。</a:t>
            </a:r>
            <a:endParaRPr kumimoji="1" lang="en-US" altLang="ja-JP" dirty="0"/>
          </a:p>
          <a:p>
            <a:r>
              <a:rPr kumimoji="1" lang="ja-JP" altLang="en-US" dirty="0"/>
              <a:t>透明駅を使用しない場合、ホーム途中に柵が自生します。</a:t>
            </a:r>
            <a:endParaRPr kumimoji="1" lang="en-US" altLang="ja-JP" dirty="0"/>
          </a:p>
        </p:txBody>
      </p:sp>
      <p:sp>
        <p:nvSpPr>
          <p:cNvPr id="15" name="テキスト ボックス 14">
            <a:extLst>
              <a:ext uri="{FF2B5EF4-FFF2-40B4-BE49-F238E27FC236}">
                <a16:creationId xmlns:a16="http://schemas.microsoft.com/office/drawing/2014/main" id="{9C0E69A7-49F7-0278-7D71-B9F2B7A53304}"/>
              </a:ext>
            </a:extLst>
          </p:cNvPr>
          <p:cNvSpPr txBox="1"/>
          <p:nvPr/>
        </p:nvSpPr>
        <p:spPr>
          <a:xfrm>
            <a:off x="41235" y="17784435"/>
            <a:ext cx="12192000" cy="461665"/>
          </a:xfrm>
          <a:prstGeom prst="rect">
            <a:avLst/>
          </a:prstGeom>
          <a:noFill/>
        </p:spPr>
        <p:txBody>
          <a:bodyPr wrap="square" rtlCol="0">
            <a:spAutoFit/>
          </a:bodyPr>
          <a:lstStyle/>
          <a:p>
            <a:pPr algn="ctr"/>
            <a:r>
              <a:rPr kumimoji="1" lang="ja-JP" altLang="en-US" sz="2400" dirty="0"/>
              <a:t>三島駅</a:t>
            </a:r>
          </a:p>
        </p:txBody>
      </p:sp>
      <p:sp>
        <p:nvSpPr>
          <p:cNvPr id="18" name="テキスト ボックス 17">
            <a:extLst>
              <a:ext uri="{FF2B5EF4-FFF2-40B4-BE49-F238E27FC236}">
                <a16:creationId xmlns:a16="http://schemas.microsoft.com/office/drawing/2014/main" id="{A8D20A00-91E3-E975-3E0D-6AA426AFA0AC}"/>
              </a:ext>
            </a:extLst>
          </p:cNvPr>
          <p:cNvSpPr txBox="1"/>
          <p:nvPr/>
        </p:nvSpPr>
        <p:spPr>
          <a:xfrm>
            <a:off x="1010280" y="26891695"/>
            <a:ext cx="10162471" cy="1200329"/>
          </a:xfrm>
          <a:prstGeom prst="rect">
            <a:avLst/>
          </a:prstGeom>
          <a:noFill/>
        </p:spPr>
        <p:txBody>
          <a:bodyPr wrap="square" rtlCol="0">
            <a:spAutoFit/>
          </a:bodyPr>
          <a:lstStyle/>
          <a:p>
            <a:r>
              <a:rPr kumimoji="1" lang="ja-JP" altLang="en-US" dirty="0"/>
              <a:t>北斗星やはまなす等の寝台特急が機回しのために使っていた函館駅</a:t>
            </a:r>
            <a:r>
              <a:rPr kumimoji="1" lang="en-US" altLang="ja-JP" dirty="0"/>
              <a:t>8</a:t>
            </a:r>
            <a:r>
              <a:rPr kumimoji="1" lang="ja-JP" altLang="en-US" dirty="0"/>
              <a:t>番線。</a:t>
            </a:r>
            <a:endParaRPr kumimoji="1" lang="en-US" altLang="ja-JP" dirty="0"/>
          </a:p>
          <a:p>
            <a:r>
              <a:rPr kumimoji="1" lang="ja-JP" altLang="en-US" dirty="0"/>
              <a:t>実際には線路側に柵がありますが、線路途中で分岐できる例ということで。</a:t>
            </a:r>
            <a:endParaRPr kumimoji="1" lang="en-US" altLang="ja-JP" dirty="0"/>
          </a:p>
          <a:p>
            <a:r>
              <a:rPr kumimoji="1" lang="ja-JP" altLang="en-US" dirty="0"/>
              <a:t>機回しした機関車が折り返す部分（駅の中で一番下のマス）に透明ホームを置くことで、</a:t>
            </a:r>
            <a:endParaRPr kumimoji="1" lang="en-US" altLang="ja-JP" dirty="0"/>
          </a:p>
          <a:p>
            <a:r>
              <a:rPr kumimoji="1" lang="ja-JP" altLang="en-US" dirty="0"/>
              <a:t>問題なく折り返し・待機することが可能です。</a:t>
            </a:r>
            <a:endParaRPr kumimoji="1" lang="en-US" altLang="ja-JP" dirty="0"/>
          </a:p>
        </p:txBody>
      </p:sp>
      <p:sp>
        <p:nvSpPr>
          <p:cNvPr id="19" name="テキスト ボックス 18">
            <a:extLst>
              <a:ext uri="{FF2B5EF4-FFF2-40B4-BE49-F238E27FC236}">
                <a16:creationId xmlns:a16="http://schemas.microsoft.com/office/drawing/2014/main" id="{116A1AEB-5052-1A36-0A70-8898C40C603C}"/>
              </a:ext>
            </a:extLst>
          </p:cNvPr>
          <p:cNvSpPr txBox="1"/>
          <p:nvPr/>
        </p:nvSpPr>
        <p:spPr>
          <a:xfrm>
            <a:off x="-4485" y="26364555"/>
            <a:ext cx="12192000" cy="461665"/>
          </a:xfrm>
          <a:prstGeom prst="rect">
            <a:avLst/>
          </a:prstGeom>
          <a:noFill/>
        </p:spPr>
        <p:txBody>
          <a:bodyPr wrap="square" rtlCol="0">
            <a:spAutoFit/>
          </a:bodyPr>
          <a:lstStyle/>
          <a:p>
            <a:pPr algn="ctr"/>
            <a:r>
              <a:rPr kumimoji="1" lang="ja-JP" altLang="en-US" sz="2400" dirty="0"/>
              <a:t>函館駅</a:t>
            </a:r>
          </a:p>
        </p:txBody>
      </p:sp>
      <p:pic>
        <p:nvPicPr>
          <p:cNvPr id="21" name="図 20">
            <a:extLst>
              <a:ext uri="{FF2B5EF4-FFF2-40B4-BE49-F238E27FC236}">
                <a16:creationId xmlns:a16="http://schemas.microsoft.com/office/drawing/2014/main" id="{B0931350-9075-E04D-4207-0FADAB506A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6000" y="19986237"/>
            <a:ext cx="10080000" cy="6215679"/>
          </a:xfrm>
          <a:prstGeom prst="rect">
            <a:avLst/>
          </a:prstGeom>
        </p:spPr>
      </p:pic>
      <p:pic>
        <p:nvPicPr>
          <p:cNvPr id="23" name="図 22" descr="草, フィールド, 屋外, グリーン が含まれている画像&#10;&#10;自動的に生成された説明">
            <a:extLst>
              <a:ext uri="{FF2B5EF4-FFF2-40B4-BE49-F238E27FC236}">
                <a16:creationId xmlns:a16="http://schemas.microsoft.com/office/drawing/2014/main" id="{B9863561-CAB2-7840-942E-BD3D60E65F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1515" y="28563536"/>
            <a:ext cx="10080000" cy="6720000"/>
          </a:xfrm>
          <a:prstGeom prst="rect">
            <a:avLst/>
          </a:prstGeom>
        </p:spPr>
      </p:pic>
      <p:sp>
        <p:nvSpPr>
          <p:cNvPr id="24" name="テキスト ボックス 23">
            <a:extLst>
              <a:ext uri="{FF2B5EF4-FFF2-40B4-BE49-F238E27FC236}">
                <a16:creationId xmlns:a16="http://schemas.microsoft.com/office/drawing/2014/main" id="{BBFAFF93-1250-A7EC-829B-EE4A56B82050}"/>
              </a:ext>
            </a:extLst>
          </p:cNvPr>
          <p:cNvSpPr txBox="1"/>
          <p:nvPr/>
        </p:nvSpPr>
        <p:spPr>
          <a:xfrm>
            <a:off x="1010280" y="36087855"/>
            <a:ext cx="10162471" cy="646331"/>
          </a:xfrm>
          <a:prstGeom prst="rect">
            <a:avLst/>
          </a:prstGeom>
          <a:noFill/>
        </p:spPr>
        <p:txBody>
          <a:bodyPr wrap="square" rtlCol="0">
            <a:spAutoFit/>
          </a:bodyPr>
          <a:lstStyle/>
          <a:p>
            <a:r>
              <a:rPr kumimoji="1" lang="ja-JP" altLang="en-US" dirty="0"/>
              <a:t>こちらも函館駅と同じく機回し可能な頭端駅の例です。</a:t>
            </a:r>
            <a:endParaRPr kumimoji="1" lang="en-US" altLang="ja-JP" dirty="0"/>
          </a:p>
          <a:p>
            <a:r>
              <a:rPr kumimoji="1" lang="ja-JP" altLang="en-US" dirty="0"/>
              <a:t>基本的には函館駅と同じです。</a:t>
            </a:r>
            <a:endParaRPr kumimoji="1" lang="en-US" altLang="ja-JP" dirty="0"/>
          </a:p>
        </p:txBody>
      </p:sp>
      <p:sp>
        <p:nvSpPr>
          <p:cNvPr id="25" name="テキスト ボックス 24">
            <a:extLst>
              <a:ext uri="{FF2B5EF4-FFF2-40B4-BE49-F238E27FC236}">
                <a16:creationId xmlns:a16="http://schemas.microsoft.com/office/drawing/2014/main" id="{ACBC5842-F784-02F2-05FC-3EA3CDC3FEB7}"/>
              </a:ext>
            </a:extLst>
          </p:cNvPr>
          <p:cNvSpPr txBox="1"/>
          <p:nvPr/>
        </p:nvSpPr>
        <p:spPr>
          <a:xfrm>
            <a:off x="-4485" y="35560715"/>
            <a:ext cx="12192000" cy="461665"/>
          </a:xfrm>
          <a:prstGeom prst="rect">
            <a:avLst/>
          </a:prstGeom>
          <a:noFill/>
        </p:spPr>
        <p:txBody>
          <a:bodyPr wrap="square" rtlCol="0">
            <a:spAutoFit/>
          </a:bodyPr>
          <a:lstStyle/>
          <a:p>
            <a:pPr algn="ctr"/>
            <a:r>
              <a:rPr kumimoji="1" lang="ja-JP" altLang="en-US" sz="2400" dirty="0"/>
              <a:t>旧門司港駅</a:t>
            </a:r>
          </a:p>
        </p:txBody>
      </p:sp>
      <p:pic>
        <p:nvPicPr>
          <p:cNvPr id="27" name="図 26" descr="草, グリーン, フィールド, 古い が含まれている画像&#10;&#10;自動的に生成された説明">
            <a:extLst>
              <a:ext uri="{FF2B5EF4-FFF2-40B4-BE49-F238E27FC236}">
                <a16:creationId xmlns:a16="http://schemas.microsoft.com/office/drawing/2014/main" id="{0FD4D510-7CC0-4B0F-3767-B19227B15B3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1515" y="37886841"/>
            <a:ext cx="10080000" cy="6571901"/>
          </a:xfrm>
          <a:prstGeom prst="rect">
            <a:avLst/>
          </a:prstGeom>
        </p:spPr>
      </p:pic>
      <p:sp>
        <p:nvSpPr>
          <p:cNvPr id="28" name="テキスト ボックス 27">
            <a:extLst>
              <a:ext uri="{FF2B5EF4-FFF2-40B4-BE49-F238E27FC236}">
                <a16:creationId xmlns:a16="http://schemas.microsoft.com/office/drawing/2014/main" id="{68D1ADA9-02CD-442B-9B50-A5F564D21AF6}"/>
              </a:ext>
            </a:extLst>
          </p:cNvPr>
          <p:cNvSpPr txBox="1"/>
          <p:nvPr/>
        </p:nvSpPr>
        <p:spPr>
          <a:xfrm>
            <a:off x="1019250" y="45319043"/>
            <a:ext cx="10162471" cy="2031325"/>
          </a:xfrm>
          <a:prstGeom prst="rect">
            <a:avLst/>
          </a:prstGeom>
          <a:noFill/>
        </p:spPr>
        <p:txBody>
          <a:bodyPr wrap="square" rtlCol="0">
            <a:spAutoFit/>
          </a:bodyPr>
          <a:lstStyle/>
          <a:p>
            <a:r>
              <a:rPr kumimoji="1" lang="ja-JP" altLang="en-US" dirty="0"/>
              <a:t>一般的な鉄道車両と路面電車を走行する低床車両が乗り入れるえちぜん鉄道の駅です。</a:t>
            </a:r>
            <a:endParaRPr kumimoji="1" lang="en-US" altLang="ja-JP" dirty="0"/>
          </a:p>
          <a:p>
            <a:r>
              <a:rPr kumimoji="1" lang="ja-JP" altLang="en-US" dirty="0"/>
              <a:t>鷲塚針原駅から田原町駅まで、構造は違えど段差なく乗り降りできるよう、低床ホームが</a:t>
            </a:r>
            <a:endParaRPr kumimoji="1" lang="en-US" altLang="ja-JP" dirty="0"/>
          </a:p>
          <a:p>
            <a:r>
              <a:rPr kumimoji="1" lang="ja-JP" altLang="en-US" dirty="0"/>
              <a:t>設置されているのがこの区間の特長です。</a:t>
            </a:r>
            <a:endParaRPr kumimoji="1" lang="en-US" altLang="ja-JP" dirty="0"/>
          </a:p>
          <a:p>
            <a:r>
              <a:rPr kumimoji="1" lang="ja-JP" altLang="en-US" dirty="0"/>
              <a:t>実際の新田塚駅は普通の島式交換駅と、低床ホームが対向式に設置されています。</a:t>
            </a:r>
            <a:endParaRPr kumimoji="1" lang="en-US" altLang="ja-JP" dirty="0"/>
          </a:p>
          <a:p>
            <a:r>
              <a:rPr kumimoji="1" lang="ja-JP" altLang="en-US" dirty="0"/>
              <a:t>島式ホームは架線属性で、対向式ホームは駅属性で設置しました。</a:t>
            </a:r>
            <a:endParaRPr kumimoji="1" lang="en-US" altLang="ja-JP" dirty="0"/>
          </a:p>
          <a:p>
            <a:r>
              <a:rPr kumimoji="1" lang="ja-JP" altLang="en-US"/>
              <a:t>上画像の</a:t>
            </a:r>
            <a:r>
              <a:rPr kumimoji="1" lang="ja-JP" altLang="en-US" dirty="0"/>
              <a:t>対向式ホームが低床車両でも乗り降りできるかはさておき、</a:t>
            </a:r>
            <a:endParaRPr kumimoji="1" lang="en-US" altLang="ja-JP" dirty="0"/>
          </a:p>
          <a:p>
            <a:r>
              <a:rPr kumimoji="1" lang="ja-JP" altLang="en-US" dirty="0"/>
              <a:t>このような活用法もございます。</a:t>
            </a:r>
            <a:endParaRPr kumimoji="1" lang="en-US" altLang="ja-JP" dirty="0"/>
          </a:p>
        </p:txBody>
      </p:sp>
      <p:sp>
        <p:nvSpPr>
          <p:cNvPr id="29" name="テキスト ボックス 28">
            <a:extLst>
              <a:ext uri="{FF2B5EF4-FFF2-40B4-BE49-F238E27FC236}">
                <a16:creationId xmlns:a16="http://schemas.microsoft.com/office/drawing/2014/main" id="{F0B19835-455C-1D8D-EFD0-BD1D65E2A5EC}"/>
              </a:ext>
            </a:extLst>
          </p:cNvPr>
          <p:cNvSpPr txBox="1"/>
          <p:nvPr/>
        </p:nvSpPr>
        <p:spPr>
          <a:xfrm>
            <a:off x="4485" y="44791903"/>
            <a:ext cx="12192000" cy="461665"/>
          </a:xfrm>
          <a:prstGeom prst="rect">
            <a:avLst/>
          </a:prstGeom>
          <a:noFill/>
        </p:spPr>
        <p:txBody>
          <a:bodyPr wrap="square" rtlCol="0">
            <a:spAutoFit/>
          </a:bodyPr>
          <a:lstStyle/>
          <a:p>
            <a:pPr algn="ctr"/>
            <a:r>
              <a:rPr kumimoji="1" lang="ja-JP" altLang="en-US" sz="2400" dirty="0"/>
              <a:t>新田塚駅</a:t>
            </a:r>
          </a:p>
        </p:txBody>
      </p:sp>
    </p:spTree>
    <p:extLst>
      <p:ext uri="{BB962C8B-B14F-4D97-AF65-F5344CB8AC3E}">
        <p14:creationId xmlns:p14="http://schemas.microsoft.com/office/powerpoint/2010/main" val="209598883"/>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104</TotalTime>
  <Words>1123</Words>
  <Application>Microsoft Office PowerPoint</Application>
  <PresentationFormat>ユーザー設定</PresentationFormat>
  <Paragraphs>82</Paragraphs>
  <Slides>3</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3</vt:i4>
      </vt:variant>
    </vt:vector>
  </HeadingPairs>
  <TitlesOfParts>
    <vt:vector size="8" baseType="lpstr">
      <vt:lpstr>Arial</vt:lpstr>
      <vt:lpstr>Calibri</vt:lpstr>
      <vt:lpstr>Calibri Light</vt:lpstr>
      <vt:lpstr>verdana</vt:lpstr>
      <vt:lpstr>Office テーマ</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竹内 新</dc:creator>
  <cp:lastModifiedBy>竹内 新</cp:lastModifiedBy>
  <cp:revision>9</cp:revision>
  <dcterms:created xsi:type="dcterms:W3CDTF">2022-12-15T05:12:32Z</dcterms:created>
  <dcterms:modified xsi:type="dcterms:W3CDTF">2022-12-15T07:17:57Z</dcterms:modified>
</cp:coreProperties>
</file>